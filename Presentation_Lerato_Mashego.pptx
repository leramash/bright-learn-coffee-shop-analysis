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138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NL%20Mashego\Desktop\BrightLearn(DAT)\Case%20Study%201-%20Lerato%20Mashego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C:\Users\NL%20Mashego\Desktop\BrightLearn(DAT)\Case%20Study%201-%20Lerato%20Mashego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C:\Users\NL%20Mashego\Desktop\BrightLearn(DAT)\Case%20Study%201-%20Lerato%20Mashego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C:\Users\NL%20Mashego\Desktop\BrightLearn(DAT)\Case%20Study%201-%20Lerato%20Mashego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C:\Users\NL%20Mashego\Desktop\BrightLearn(DAT)\Case%20Study%201-%20Lerato%20Mashego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file:///C:\Users\NL%20Mashego\Desktop\BrightLearn(DAT)\Case%20Study%201-%20Lerato%20Mashego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[Case Study 1- Lerato Mashego.xlsx]Revenue By Month!PivotTable1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Revenue By Month 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</c:pivotFmt>
      <c:pivotFmt>
        <c:idx val="13"/>
        <c:spPr>
          <a:solidFill>
            <a:schemeClr val="accent2"/>
          </a:solidFill>
          <a:ln>
            <a:noFill/>
          </a:ln>
          <a:effectLst/>
        </c:spPr>
      </c:pivotFmt>
      <c:pivotFmt>
        <c:idx val="14"/>
        <c:spPr>
          <a:solidFill>
            <a:schemeClr val="accent2"/>
          </a:solidFill>
          <a:ln>
            <a:noFill/>
          </a:ln>
          <a:effectLst/>
        </c:spPr>
      </c:pivotFmt>
      <c:pivotFmt>
        <c:idx val="1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6"/>
        <c:spPr>
          <a:solidFill>
            <a:schemeClr val="accent2"/>
          </a:solidFill>
          <a:ln>
            <a:noFill/>
          </a:ln>
          <a:effectLst/>
        </c:spPr>
      </c:pivotFmt>
      <c:pivotFmt>
        <c:idx val="17"/>
        <c:spPr>
          <a:solidFill>
            <a:schemeClr val="accent2"/>
          </a:solidFill>
          <a:ln>
            <a:noFill/>
          </a:ln>
          <a:effectLst/>
        </c:spPr>
      </c:pivotFmt>
      <c:pivotFmt>
        <c:idx val="18"/>
        <c:spPr>
          <a:solidFill>
            <a:schemeClr val="accent2"/>
          </a:solidFill>
          <a:ln>
            <a:noFill/>
          </a:ln>
          <a:effectLst/>
        </c:spPr>
      </c:pivotFmt>
      <c:pivotFmt>
        <c:idx val="19"/>
        <c:spPr>
          <a:solidFill>
            <a:schemeClr val="accent2"/>
          </a:solidFill>
          <a:ln>
            <a:noFill/>
          </a:ln>
          <a:effectLst/>
        </c:spPr>
      </c:pivotFmt>
      <c:pivotFmt>
        <c:idx val="20"/>
        <c:spPr>
          <a:solidFill>
            <a:schemeClr val="accent2"/>
          </a:solidFill>
          <a:ln>
            <a:noFill/>
          </a:ln>
          <a:effectLst/>
        </c:spPr>
      </c:pivotFmt>
      <c:pivotFmt>
        <c:idx val="21"/>
        <c:spPr>
          <a:solidFill>
            <a:schemeClr val="accent2"/>
          </a:solidFill>
          <a:ln>
            <a:noFill/>
          </a:ln>
          <a:effectLst/>
        </c:spPr>
      </c:pivotFmt>
      <c:pivotFmt>
        <c:idx val="2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3"/>
        <c:spPr>
          <a:solidFill>
            <a:schemeClr val="accent2"/>
          </a:solidFill>
          <a:ln>
            <a:noFill/>
          </a:ln>
          <a:effectLst/>
        </c:spPr>
      </c:pivotFmt>
      <c:pivotFmt>
        <c:idx val="24"/>
        <c:spPr>
          <a:solidFill>
            <a:schemeClr val="accent2"/>
          </a:solidFill>
          <a:ln>
            <a:noFill/>
          </a:ln>
          <a:effectLst/>
        </c:spPr>
      </c:pivotFmt>
      <c:pivotFmt>
        <c:idx val="25"/>
        <c:spPr>
          <a:solidFill>
            <a:schemeClr val="accent2"/>
          </a:solidFill>
          <a:ln>
            <a:noFill/>
          </a:ln>
          <a:effectLst/>
        </c:spPr>
      </c:pivotFmt>
      <c:pivotFmt>
        <c:idx val="26"/>
        <c:spPr>
          <a:solidFill>
            <a:schemeClr val="accent2"/>
          </a:solidFill>
          <a:ln>
            <a:noFill/>
          </a:ln>
          <a:effectLst/>
        </c:spPr>
      </c:pivotFmt>
      <c:pivotFmt>
        <c:idx val="27"/>
        <c:spPr>
          <a:solidFill>
            <a:schemeClr val="accent2"/>
          </a:solidFill>
          <a:ln>
            <a:noFill/>
          </a:ln>
          <a:effectLst/>
        </c:spPr>
      </c:pivotFmt>
      <c:pivotFmt>
        <c:idx val="28"/>
        <c:spPr>
          <a:solidFill>
            <a:schemeClr val="accent2"/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'Revenue By Month'!$B$3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F32-453F-93FD-97512430748F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F32-453F-93FD-97512430748F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F32-453F-93FD-97512430748F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F32-453F-93FD-97512430748F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F32-453F-93FD-97512430748F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F32-453F-93FD-97512430748F}"/>
              </c:ext>
            </c:extLst>
          </c:dPt>
          <c:dLbls>
            <c:delete val="1"/>
          </c:dLbls>
          <c:cat>
            <c:strRef>
              <c:f>'Revenue By Month'!$A$4:$A$10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'Revenue By Month'!$B$4:$B$10</c:f>
              <c:numCache>
                <c:formatCode>"R"#,##0</c:formatCode>
                <c:ptCount val="6"/>
                <c:pt idx="0">
                  <c:v>81677.739999999496</c:v>
                </c:pt>
                <c:pt idx="1">
                  <c:v>76145.189999999624</c:v>
                </c:pt>
                <c:pt idx="2">
                  <c:v>98834.679999999731</c:v>
                </c:pt>
                <c:pt idx="3">
                  <c:v>118941.07999999993</c:v>
                </c:pt>
                <c:pt idx="4">
                  <c:v>156727.76000000242</c:v>
                </c:pt>
                <c:pt idx="5">
                  <c:v>166485.88000000225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F32-453F-93FD-97512430748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39737552"/>
        <c:axId val="539732144"/>
      </c:barChart>
      <c:catAx>
        <c:axId val="539737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9732144"/>
        <c:crosses val="autoZero"/>
        <c:auto val="1"/>
        <c:lblAlgn val="ctr"/>
        <c:lblOffset val="100"/>
        <c:noMultiLvlLbl val="0"/>
      </c:catAx>
      <c:valAx>
        <c:axId val="539732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R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97375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1270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[Case Study 1- Lerato Mashego.xlsx]Revenue By Month!PivotTable2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Revenue By Week and Store location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'Revenue By Month'!$B$19:$B$20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'Revenue By Month'!$A$21:$A$28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'Revenue By Month'!$B$21:$B$28</c:f>
              <c:numCache>
                <c:formatCode>"R"#,##0</c:formatCode>
                <c:ptCount val="7"/>
                <c:pt idx="0">
                  <c:v>32795.180000000029</c:v>
                </c:pt>
                <c:pt idx="1">
                  <c:v>33928.290000000045</c:v>
                </c:pt>
                <c:pt idx="2">
                  <c:v>31816.760000000057</c:v>
                </c:pt>
                <c:pt idx="3">
                  <c:v>34244.630000000048</c:v>
                </c:pt>
                <c:pt idx="4">
                  <c:v>34140.370000000039</c:v>
                </c:pt>
                <c:pt idx="5">
                  <c:v>33472.75</c:v>
                </c:pt>
                <c:pt idx="6">
                  <c:v>31845.930000000051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34-427A-AC17-EDF9E83FCCD8}"/>
            </c:ext>
          </c:extLst>
        </c:ser>
        <c:ser>
          <c:idx val="1"/>
          <c:order val="1"/>
          <c:tx>
            <c:strRef>
              <c:f>'Revenue By Month'!$C$19:$C$20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'Revenue By Month'!$A$21:$A$28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'Revenue By Month'!$C$21:$C$28</c:f>
              <c:numCache>
                <c:formatCode>"R"#,##0</c:formatCode>
                <c:ptCount val="7"/>
                <c:pt idx="0">
                  <c:v>33685.630000000041</c:v>
                </c:pt>
                <c:pt idx="1">
                  <c:v>33389.509999999951</c:v>
                </c:pt>
                <c:pt idx="2">
                  <c:v>34846.469999999928</c:v>
                </c:pt>
                <c:pt idx="3">
                  <c:v>33779.089999999982</c:v>
                </c:pt>
                <c:pt idx="4">
                  <c:v>33468.059999999932</c:v>
                </c:pt>
                <c:pt idx="5">
                  <c:v>34743.179999999957</c:v>
                </c:pt>
                <c:pt idx="6">
                  <c:v>32599.22999999997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F34-427A-AC17-EDF9E83FCCD8}"/>
            </c:ext>
          </c:extLst>
        </c:ser>
        <c:ser>
          <c:idx val="2"/>
          <c:order val="2"/>
          <c:tx>
            <c:strRef>
              <c:f>'Revenue By Month'!$D$19:$D$20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'Revenue By Month'!$A$21:$A$28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'Revenue By Month'!$D$21:$D$28</c:f>
              <c:numCache>
                <c:formatCode>"R"#,##0</c:formatCode>
                <c:ptCount val="7"/>
                <c:pt idx="0">
                  <c:v>31849.499999999978</c:v>
                </c:pt>
                <c:pt idx="1">
                  <c:v>34359.47999999988</c:v>
                </c:pt>
                <c:pt idx="2">
                  <c:v>32792.709999999985</c:v>
                </c:pt>
                <c:pt idx="3">
                  <c:v>32289.81999999996</c:v>
                </c:pt>
                <c:pt idx="4">
                  <c:v>33159.350000000006</c:v>
                </c:pt>
                <c:pt idx="5">
                  <c:v>33157.069999999942</c:v>
                </c:pt>
                <c:pt idx="6">
                  <c:v>32449.319999999912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F34-427A-AC17-EDF9E83FCC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435909008"/>
        <c:axId val="435910672"/>
      </c:barChart>
      <c:catAx>
        <c:axId val="435909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5910672"/>
        <c:crosses val="autoZero"/>
        <c:auto val="1"/>
        <c:lblAlgn val="ctr"/>
        <c:lblOffset val="100"/>
        <c:noMultiLvlLbl val="0"/>
      </c:catAx>
      <c:valAx>
        <c:axId val="43591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R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5909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1270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[Case Study 1- Lerato Mashego.xlsx]Revenue By Store!PivotTable1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Revenue by Store location 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'Revenue By Store'!$B$47:$B$48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'Revenue By Store'!$A$49:$A$56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'Revenue By Store'!$B$49:$B$56</c:f>
              <c:numCache>
                <c:formatCode>"R"#,##0</c:formatCode>
                <c:ptCount val="7"/>
                <c:pt idx="0">
                  <c:v>32795.180000000029</c:v>
                </c:pt>
                <c:pt idx="1">
                  <c:v>33928.290000000045</c:v>
                </c:pt>
                <c:pt idx="2">
                  <c:v>31816.760000000057</c:v>
                </c:pt>
                <c:pt idx="3">
                  <c:v>34244.630000000048</c:v>
                </c:pt>
                <c:pt idx="4">
                  <c:v>34140.370000000039</c:v>
                </c:pt>
                <c:pt idx="5">
                  <c:v>33472.75</c:v>
                </c:pt>
                <c:pt idx="6">
                  <c:v>31845.930000000051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E5-40DA-9126-C1CA00AF1BAD}"/>
            </c:ext>
          </c:extLst>
        </c:ser>
        <c:ser>
          <c:idx val="1"/>
          <c:order val="1"/>
          <c:tx>
            <c:strRef>
              <c:f>'Revenue By Store'!$C$47:$C$48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'Revenue By Store'!$A$49:$A$56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'Revenue By Store'!$C$49:$C$56</c:f>
              <c:numCache>
                <c:formatCode>"R"#,##0</c:formatCode>
                <c:ptCount val="7"/>
                <c:pt idx="0">
                  <c:v>33685.630000000041</c:v>
                </c:pt>
                <c:pt idx="1">
                  <c:v>33389.509999999951</c:v>
                </c:pt>
                <c:pt idx="2">
                  <c:v>34846.469999999928</c:v>
                </c:pt>
                <c:pt idx="3">
                  <c:v>33779.089999999982</c:v>
                </c:pt>
                <c:pt idx="4">
                  <c:v>33468.059999999932</c:v>
                </c:pt>
                <c:pt idx="5">
                  <c:v>34743.179999999957</c:v>
                </c:pt>
                <c:pt idx="6">
                  <c:v>32599.22999999997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E5-40DA-9126-C1CA00AF1BAD}"/>
            </c:ext>
          </c:extLst>
        </c:ser>
        <c:ser>
          <c:idx val="2"/>
          <c:order val="2"/>
          <c:tx>
            <c:strRef>
              <c:f>'Revenue By Store'!$D$47:$D$48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'Revenue By Store'!$A$49:$A$56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'Revenue By Store'!$D$49:$D$56</c:f>
              <c:numCache>
                <c:formatCode>"R"#,##0</c:formatCode>
                <c:ptCount val="7"/>
                <c:pt idx="0">
                  <c:v>31849.499999999978</c:v>
                </c:pt>
                <c:pt idx="1">
                  <c:v>34359.47999999988</c:v>
                </c:pt>
                <c:pt idx="2">
                  <c:v>32792.709999999985</c:v>
                </c:pt>
                <c:pt idx="3">
                  <c:v>32289.81999999996</c:v>
                </c:pt>
                <c:pt idx="4">
                  <c:v>33159.350000000006</c:v>
                </c:pt>
                <c:pt idx="5">
                  <c:v>33157.069999999942</c:v>
                </c:pt>
                <c:pt idx="6">
                  <c:v>32449.319999999912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E5-40DA-9126-C1CA00AF1B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29225072"/>
        <c:axId val="1280671664"/>
      </c:barChart>
      <c:catAx>
        <c:axId val="829225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0671664"/>
        <c:crosses val="autoZero"/>
        <c:auto val="1"/>
        <c:lblAlgn val="ctr"/>
        <c:lblOffset val="100"/>
        <c:noMultiLvlLbl val="0"/>
      </c:catAx>
      <c:valAx>
        <c:axId val="1280671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R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9225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1270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[Case Study 1- Lerato Mashego.xlsx]Sales VS Day of the week!PivotTable6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Number of sales by Day of the Week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</c:pivotFmt>
      <c:pivotFmt>
        <c:idx val="13"/>
        <c:spPr>
          <a:solidFill>
            <a:schemeClr val="accent2"/>
          </a:solidFill>
          <a:ln>
            <a:noFill/>
          </a:ln>
          <a:effectLst/>
        </c:spPr>
      </c:pivotFmt>
      <c:pivotFmt>
        <c:idx val="14"/>
        <c:spPr>
          <a:solidFill>
            <a:schemeClr val="accent2"/>
          </a:solidFill>
          <a:ln>
            <a:noFill/>
          </a:ln>
          <a:effectLst/>
        </c:spPr>
      </c:pivotFmt>
      <c:pivotFmt>
        <c:idx val="15"/>
        <c:spPr>
          <a:solidFill>
            <a:schemeClr val="accent2"/>
          </a:solidFill>
          <a:ln>
            <a:noFill/>
          </a:ln>
          <a:effectLst/>
        </c:spPr>
      </c:pivotFmt>
      <c:pivotFmt>
        <c:idx val="16"/>
        <c:spPr>
          <a:solidFill>
            <a:schemeClr val="accent2"/>
          </a:solidFill>
          <a:ln>
            <a:noFill/>
          </a:ln>
          <a:effectLst/>
        </c:spPr>
      </c:pivotFmt>
      <c:pivotFmt>
        <c:idx val="1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8"/>
        <c:spPr>
          <a:solidFill>
            <a:schemeClr val="accent2"/>
          </a:solidFill>
          <a:ln>
            <a:noFill/>
          </a:ln>
          <a:effectLst/>
        </c:spPr>
      </c:pivotFmt>
      <c:pivotFmt>
        <c:idx val="19"/>
        <c:spPr>
          <a:solidFill>
            <a:schemeClr val="accent2"/>
          </a:solidFill>
          <a:ln>
            <a:noFill/>
          </a:ln>
          <a:effectLst/>
        </c:spPr>
      </c:pivotFmt>
      <c:pivotFmt>
        <c:idx val="20"/>
        <c:spPr>
          <a:solidFill>
            <a:schemeClr val="accent2"/>
          </a:solidFill>
          <a:ln>
            <a:noFill/>
          </a:ln>
          <a:effectLst/>
        </c:spPr>
      </c:pivotFmt>
      <c:pivotFmt>
        <c:idx val="21"/>
        <c:spPr>
          <a:solidFill>
            <a:schemeClr val="accent2"/>
          </a:solidFill>
          <a:ln>
            <a:noFill/>
          </a:ln>
          <a:effectLst/>
        </c:spPr>
      </c:pivotFmt>
      <c:pivotFmt>
        <c:idx val="22"/>
        <c:spPr>
          <a:solidFill>
            <a:schemeClr val="accent2"/>
          </a:solidFill>
          <a:ln>
            <a:noFill/>
          </a:ln>
          <a:effectLst/>
        </c:spPr>
      </c:pivotFmt>
      <c:pivotFmt>
        <c:idx val="23"/>
        <c:spPr>
          <a:solidFill>
            <a:schemeClr val="accent2"/>
          </a:solidFill>
          <a:ln>
            <a:noFill/>
          </a:ln>
          <a:effectLst/>
        </c:spPr>
      </c:pivotFmt>
      <c:pivotFmt>
        <c:idx val="24"/>
        <c:spPr>
          <a:solidFill>
            <a:schemeClr val="accent2"/>
          </a:solidFill>
          <a:ln>
            <a:noFill/>
          </a:ln>
          <a:effectLst/>
        </c:spPr>
      </c:pivotFmt>
      <c:pivotFmt>
        <c:idx val="2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6"/>
        <c:spPr>
          <a:solidFill>
            <a:schemeClr val="accent2"/>
          </a:solidFill>
          <a:ln>
            <a:noFill/>
          </a:ln>
          <a:effectLst/>
        </c:spPr>
      </c:pivotFmt>
      <c:pivotFmt>
        <c:idx val="27"/>
        <c:spPr>
          <a:solidFill>
            <a:schemeClr val="accent2"/>
          </a:solidFill>
          <a:ln>
            <a:noFill/>
          </a:ln>
          <a:effectLst/>
        </c:spPr>
      </c:pivotFmt>
      <c:pivotFmt>
        <c:idx val="28"/>
        <c:spPr>
          <a:solidFill>
            <a:schemeClr val="accent2"/>
          </a:solidFill>
          <a:ln>
            <a:noFill/>
          </a:ln>
          <a:effectLst/>
        </c:spPr>
      </c:pivotFmt>
      <c:pivotFmt>
        <c:idx val="29"/>
        <c:spPr>
          <a:solidFill>
            <a:schemeClr val="accent2"/>
          </a:solidFill>
          <a:ln>
            <a:noFill/>
          </a:ln>
          <a:effectLst/>
        </c:spPr>
      </c:pivotFmt>
      <c:pivotFmt>
        <c:idx val="30"/>
        <c:spPr>
          <a:solidFill>
            <a:schemeClr val="accent2"/>
          </a:solidFill>
          <a:ln>
            <a:noFill/>
          </a:ln>
          <a:effectLst/>
        </c:spPr>
      </c:pivotFmt>
      <c:pivotFmt>
        <c:idx val="31"/>
        <c:spPr>
          <a:solidFill>
            <a:schemeClr val="accent2"/>
          </a:solidFill>
          <a:ln>
            <a:noFill/>
          </a:ln>
          <a:effectLst/>
        </c:spPr>
      </c:pivotFmt>
      <c:pivotFmt>
        <c:idx val="32"/>
        <c:spPr>
          <a:solidFill>
            <a:schemeClr val="accent2"/>
          </a:solidFill>
          <a:ln>
            <a:noFill/>
          </a:ln>
          <a:effectLst/>
        </c:spPr>
      </c:pivotFmt>
      <c:pivotFmt>
        <c:idx val="3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34"/>
        <c:spPr>
          <a:solidFill>
            <a:schemeClr val="accent2"/>
          </a:solidFill>
          <a:ln>
            <a:noFill/>
          </a:ln>
          <a:effectLst/>
        </c:spPr>
      </c:pivotFmt>
      <c:pivotFmt>
        <c:idx val="35"/>
        <c:spPr>
          <a:solidFill>
            <a:schemeClr val="accent2"/>
          </a:solidFill>
          <a:ln>
            <a:noFill/>
          </a:ln>
          <a:effectLst/>
        </c:spPr>
      </c:pivotFmt>
      <c:pivotFmt>
        <c:idx val="36"/>
        <c:spPr>
          <a:solidFill>
            <a:schemeClr val="accent2"/>
          </a:solidFill>
          <a:ln>
            <a:noFill/>
          </a:ln>
          <a:effectLst/>
        </c:spPr>
      </c:pivotFmt>
      <c:pivotFmt>
        <c:idx val="37"/>
        <c:spPr>
          <a:solidFill>
            <a:schemeClr val="accent2"/>
          </a:solidFill>
          <a:ln>
            <a:noFill/>
          </a:ln>
          <a:effectLst/>
        </c:spPr>
      </c:pivotFmt>
      <c:pivotFmt>
        <c:idx val="38"/>
        <c:spPr>
          <a:solidFill>
            <a:schemeClr val="accent2"/>
          </a:solidFill>
          <a:ln>
            <a:noFill/>
          </a:ln>
          <a:effectLst/>
        </c:spPr>
      </c:pivotFmt>
      <c:pivotFmt>
        <c:idx val="39"/>
        <c:spPr>
          <a:solidFill>
            <a:schemeClr val="accent2"/>
          </a:solidFill>
          <a:ln>
            <a:noFill/>
          </a:ln>
          <a:effectLst/>
        </c:spPr>
      </c:pivotFmt>
      <c:pivotFmt>
        <c:idx val="40"/>
        <c:spPr>
          <a:solidFill>
            <a:schemeClr val="accent2"/>
          </a:solidFill>
          <a:ln>
            <a:noFill/>
          </a:ln>
          <a:effectLst/>
        </c:spPr>
      </c:pivotFmt>
    </c:pivotFmts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'Sales VS Day of the week'!$B$3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EFF-4C22-AF9C-5E9E64D6161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EFF-4C22-AF9C-5E9E64D6161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EFF-4C22-AF9C-5E9E64D61613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EFF-4C22-AF9C-5E9E64D61613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EFF-4C22-AF9C-5E9E64D61613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0EFF-4C22-AF9C-5E9E64D61613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0EFF-4C22-AF9C-5E9E64D61613}"/>
              </c:ext>
            </c:extLst>
          </c:dPt>
          <c:cat>
            <c:strRef>
              <c:f>'Sales VS Day of the week'!$A$4:$A$11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'Sales VS Day of the week'!$B$4:$B$11</c:f>
              <c:numCache>
                <c:formatCode>General</c:formatCode>
                <c:ptCount val="7"/>
                <c:pt idx="0">
                  <c:v>21096</c:v>
                </c:pt>
                <c:pt idx="1">
                  <c:v>21643</c:v>
                </c:pt>
                <c:pt idx="2">
                  <c:v>21202</c:v>
                </c:pt>
                <c:pt idx="3">
                  <c:v>21310</c:v>
                </c:pt>
                <c:pt idx="4">
                  <c:v>21654</c:v>
                </c:pt>
                <c:pt idx="5">
                  <c:v>21701</c:v>
                </c:pt>
                <c:pt idx="6">
                  <c:v>20510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EFF-4C22-AF9C-5E9E64D616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63343136"/>
        <c:axId val="763326912"/>
      </c:barChart>
      <c:catAx>
        <c:axId val="7633431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3326912"/>
        <c:crosses val="autoZero"/>
        <c:auto val="1"/>
        <c:lblAlgn val="ctr"/>
        <c:lblOffset val="100"/>
        <c:noMultiLvlLbl val="0"/>
      </c:catAx>
      <c:valAx>
        <c:axId val="7633269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33431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1270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[Case Study 1- Lerato Mashego.xlsx]Revenue By Time Bucket!PivotTable1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Revenue By Time Bucket</a:t>
            </a:r>
          </a:p>
        </c:rich>
      </c:tx>
      <c:layout>
        <c:manualLayout>
          <c:xMode val="edge"/>
          <c:yMode val="edge"/>
          <c:x val="0.31037689672050905"/>
          <c:y val="5.916447944006999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10458092738407698"/>
          <c:y val="0.14712744240303297"/>
          <c:w val="0.63069685039370083"/>
          <c:h val="0.6585309128025663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'Revenue By Time Bucket'!$B$3:$B$4</c:f>
              <c:strCache>
                <c:ptCount val="1"/>
                <c:pt idx="0">
                  <c:v>Afternoon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'Revenue By Time Bucket'!$A$5:$A$8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'Revenue By Time Bucket'!$B$5:$B$8</c:f>
              <c:numCache>
                <c:formatCode>General</c:formatCode>
                <c:ptCount val="3"/>
                <c:pt idx="0">
                  <c:v>78322.889999999286</c:v>
                </c:pt>
                <c:pt idx="1">
                  <c:v>58761.779999999439</c:v>
                </c:pt>
                <c:pt idx="2">
                  <c:v>66892.409999999451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38-4921-9F42-99BBCE356E54}"/>
            </c:ext>
          </c:extLst>
        </c:ser>
        <c:ser>
          <c:idx val="1"/>
          <c:order val="1"/>
          <c:tx>
            <c:strRef>
              <c:f>'Revenue By Time Bucket'!$C$3:$C$4</c:f>
              <c:strCache>
                <c:ptCount val="1"/>
                <c:pt idx="0">
                  <c:v>Evening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'Revenue By Time Bucket'!$A$5:$A$8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'Revenue By Time Bucket'!$C$5:$C$8</c:f>
              <c:numCache>
                <c:formatCode>General</c:formatCode>
                <c:ptCount val="3"/>
                <c:pt idx="0">
                  <c:v>48734.24999999968</c:v>
                </c:pt>
                <c:pt idx="1">
                  <c:v>38055.439999999871</c:v>
                </c:pt>
                <c:pt idx="2">
                  <c:v>19013.140000000029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38-4921-9F42-99BBCE356E54}"/>
            </c:ext>
          </c:extLst>
        </c:ser>
        <c:ser>
          <c:idx val="2"/>
          <c:order val="2"/>
          <c:tx>
            <c:strRef>
              <c:f>'Revenue By Time Bucket'!$D$3:$D$4</c:f>
              <c:strCache>
                <c:ptCount val="1"/>
                <c:pt idx="0">
                  <c:v>Morning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'Revenue By Time Bucket'!$A$5:$A$8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'Revenue By Time Bucket'!$D$5:$D$8</c:f>
              <c:numCache>
                <c:formatCode>General</c:formatCode>
                <c:ptCount val="3"/>
                <c:pt idx="0">
                  <c:v>104762.6199999996</c:v>
                </c:pt>
                <c:pt idx="1">
                  <c:v>139317.450000001</c:v>
                </c:pt>
                <c:pt idx="2">
                  <c:v>143687.75000000102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138-4921-9F42-99BBCE356E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44440223"/>
        <c:axId val="1944434815"/>
      </c:barChart>
      <c:catAx>
        <c:axId val="19444402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4434815"/>
        <c:crosses val="autoZero"/>
        <c:auto val="1"/>
        <c:lblAlgn val="ctr"/>
        <c:lblOffset val="100"/>
        <c:noMultiLvlLbl val="0"/>
      </c:catAx>
      <c:valAx>
        <c:axId val="19444348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R&quot;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44402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1270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[Case Study 1- Lerato Mashego.xlsx]Product Category!PivotTable4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Product Category Share 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</c:pivotFmt>
      <c:pivotFmt>
        <c:idx val="13"/>
        <c:spPr>
          <a:solidFill>
            <a:schemeClr val="accent2"/>
          </a:solidFill>
          <a:ln>
            <a:noFill/>
          </a:ln>
          <a:effectLst/>
        </c:spPr>
      </c:pivotFmt>
      <c:pivotFmt>
        <c:idx val="14"/>
        <c:spPr>
          <a:solidFill>
            <a:schemeClr val="accent2"/>
          </a:solidFill>
          <a:ln>
            <a:noFill/>
          </a:ln>
          <a:effectLst/>
        </c:spPr>
      </c:pivotFmt>
      <c:pivotFmt>
        <c:idx val="15"/>
        <c:spPr>
          <a:solidFill>
            <a:schemeClr val="accent2"/>
          </a:solidFill>
          <a:ln>
            <a:noFill/>
          </a:ln>
          <a:effectLst/>
        </c:spPr>
      </c:pivotFmt>
      <c:pivotFmt>
        <c:idx val="16"/>
        <c:spPr>
          <a:solidFill>
            <a:schemeClr val="accent2"/>
          </a:solidFill>
          <a:ln>
            <a:noFill/>
          </a:ln>
          <a:effectLst/>
        </c:spPr>
      </c:pivotFmt>
      <c:pivotFmt>
        <c:idx val="17"/>
        <c:spPr>
          <a:solidFill>
            <a:schemeClr val="accent2"/>
          </a:solidFill>
          <a:ln>
            <a:noFill/>
          </a:ln>
          <a:effectLst/>
        </c:spPr>
      </c:pivotFmt>
      <c:pivotFmt>
        <c:idx val="18"/>
        <c:spPr>
          <a:solidFill>
            <a:schemeClr val="accent2"/>
          </a:solidFill>
          <a:ln>
            <a:noFill/>
          </a:ln>
          <a:effectLst/>
        </c:spPr>
      </c:pivotFmt>
      <c:pivotFmt>
        <c:idx val="19"/>
        <c:spPr>
          <a:solidFill>
            <a:schemeClr val="accent2"/>
          </a:solidFill>
          <a:ln>
            <a:noFill/>
          </a:ln>
          <a:effectLst/>
        </c:spPr>
      </c:pivotFmt>
      <c:pivotFmt>
        <c:idx val="20"/>
        <c:spPr>
          <a:solidFill>
            <a:schemeClr val="accent2"/>
          </a:solidFill>
          <a:ln>
            <a:noFill/>
          </a:ln>
          <a:effectLst/>
        </c:spPr>
      </c:pivotFmt>
      <c:pivotFmt>
        <c:idx val="2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2"/>
        <c:spPr>
          <a:solidFill>
            <a:schemeClr val="accent2"/>
          </a:solidFill>
          <a:ln>
            <a:noFill/>
          </a:ln>
          <a:effectLst/>
        </c:spPr>
      </c:pivotFmt>
      <c:pivotFmt>
        <c:idx val="23"/>
        <c:spPr>
          <a:solidFill>
            <a:schemeClr val="accent2"/>
          </a:solidFill>
          <a:ln>
            <a:noFill/>
          </a:ln>
          <a:effectLst/>
        </c:spPr>
      </c:pivotFmt>
      <c:pivotFmt>
        <c:idx val="24"/>
        <c:spPr>
          <a:solidFill>
            <a:schemeClr val="accent2"/>
          </a:solidFill>
          <a:ln>
            <a:noFill/>
          </a:ln>
          <a:effectLst/>
        </c:spPr>
      </c:pivotFmt>
      <c:pivotFmt>
        <c:idx val="25"/>
        <c:spPr>
          <a:solidFill>
            <a:schemeClr val="accent2"/>
          </a:solidFill>
          <a:ln>
            <a:noFill/>
          </a:ln>
          <a:effectLst/>
        </c:spPr>
      </c:pivotFmt>
      <c:pivotFmt>
        <c:idx val="26"/>
        <c:spPr>
          <a:solidFill>
            <a:schemeClr val="accent2"/>
          </a:solidFill>
          <a:ln>
            <a:noFill/>
          </a:ln>
          <a:effectLst/>
        </c:spPr>
      </c:pivotFmt>
      <c:pivotFmt>
        <c:idx val="27"/>
        <c:spPr>
          <a:solidFill>
            <a:schemeClr val="accent2"/>
          </a:solidFill>
          <a:ln>
            <a:noFill/>
          </a:ln>
          <a:effectLst/>
        </c:spPr>
      </c:pivotFmt>
      <c:pivotFmt>
        <c:idx val="28"/>
        <c:spPr>
          <a:solidFill>
            <a:schemeClr val="accent2"/>
          </a:solidFill>
          <a:ln>
            <a:noFill/>
          </a:ln>
          <a:effectLst/>
        </c:spPr>
      </c:pivotFmt>
      <c:pivotFmt>
        <c:idx val="29"/>
        <c:spPr>
          <a:solidFill>
            <a:schemeClr val="accent2"/>
          </a:solidFill>
          <a:ln>
            <a:noFill/>
          </a:ln>
          <a:effectLst/>
        </c:spPr>
      </c:pivotFmt>
      <c:pivotFmt>
        <c:idx val="30"/>
        <c:spPr>
          <a:solidFill>
            <a:schemeClr val="accent2"/>
          </a:solidFill>
          <a:ln>
            <a:noFill/>
          </a:ln>
          <a:effectLst/>
        </c:spPr>
      </c:pivotFmt>
      <c:pivotFmt>
        <c:idx val="3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32"/>
        <c:spPr>
          <a:solidFill>
            <a:schemeClr val="accent2"/>
          </a:solidFill>
          <a:ln>
            <a:noFill/>
          </a:ln>
          <a:effectLst/>
        </c:spPr>
      </c:pivotFmt>
      <c:pivotFmt>
        <c:idx val="33"/>
        <c:spPr>
          <a:solidFill>
            <a:schemeClr val="accent2"/>
          </a:solidFill>
          <a:ln>
            <a:noFill/>
          </a:ln>
          <a:effectLst/>
        </c:spPr>
      </c:pivotFmt>
      <c:pivotFmt>
        <c:idx val="34"/>
        <c:spPr>
          <a:solidFill>
            <a:schemeClr val="accent2"/>
          </a:solidFill>
          <a:ln>
            <a:noFill/>
          </a:ln>
          <a:effectLst/>
        </c:spPr>
      </c:pivotFmt>
      <c:pivotFmt>
        <c:idx val="35"/>
        <c:spPr>
          <a:solidFill>
            <a:schemeClr val="accent2"/>
          </a:solidFill>
          <a:ln>
            <a:noFill/>
          </a:ln>
          <a:effectLst/>
        </c:spPr>
      </c:pivotFmt>
      <c:pivotFmt>
        <c:idx val="36"/>
        <c:spPr>
          <a:solidFill>
            <a:schemeClr val="accent2"/>
          </a:solidFill>
          <a:ln>
            <a:noFill/>
          </a:ln>
          <a:effectLst/>
        </c:spPr>
      </c:pivotFmt>
      <c:pivotFmt>
        <c:idx val="37"/>
        <c:spPr>
          <a:solidFill>
            <a:schemeClr val="accent2"/>
          </a:solidFill>
          <a:ln>
            <a:noFill/>
          </a:ln>
          <a:effectLst/>
        </c:spPr>
      </c:pivotFmt>
      <c:pivotFmt>
        <c:idx val="38"/>
        <c:spPr>
          <a:solidFill>
            <a:schemeClr val="accent2"/>
          </a:solidFill>
          <a:ln>
            <a:noFill/>
          </a:ln>
          <a:effectLst/>
        </c:spPr>
      </c:pivotFmt>
      <c:pivotFmt>
        <c:idx val="39"/>
        <c:spPr>
          <a:solidFill>
            <a:schemeClr val="accent2"/>
          </a:solidFill>
          <a:ln>
            <a:noFill/>
          </a:ln>
          <a:effectLst/>
        </c:spPr>
      </c:pivotFmt>
      <c:pivotFmt>
        <c:idx val="40"/>
        <c:spPr>
          <a:solidFill>
            <a:schemeClr val="accent2"/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'Product Category'!$B$3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C2D-4826-8BB5-65DFA1E0ACD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C2D-4826-8BB5-65DFA1E0ACD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C2D-4826-8BB5-65DFA1E0ACD4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C2D-4826-8BB5-65DFA1E0ACD4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C2D-4826-8BB5-65DFA1E0ACD4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7C2D-4826-8BB5-65DFA1E0ACD4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7C2D-4826-8BB5-65DFA1E0ACD4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7C2D-4826-8BB5-65DFA1E0ACD4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7C2D-4826-8BB5-65DFA1E0ACD4}"/>
              </c:ext>
            </c:extLst>
          </c:dPt>
          <c:cat>
            <c:strRef>
              <c:f>'Product Category'!$A$4:$A$13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'Product Category'!$B$4:$B$13</c:f>
              <c:numCache>
                <c:formatCode>"R"#,##0</c:formatCode>
                <c:ptCount val="9"/>
                <c:pt idx="0">
                  <c:v>82315.640000000043</c:v>
                </c:pt>
                <c:pt idx="1">
                  <c:v>13607</c:v>
                </c:pt>
                <c:pt idx="2">
                  <c:v>269952.45000001293</c:v>
                </c:pt>
                <c:pt idx="3">
                  <c:v>40085.249999999985</c:v>
                </c:pt>
                <c:pt idx="4">
                  <c:v>72416</c:v>
                </c:pt>
                <c:pt idx="5">
                  <c:v>8408.8000000006032</c:v>
                </c:pt>
                <c:pt idx="6">
                  <c:v>11213.600000000077</c:v>
                </c:pt>
                <c:pt idx="7">
                  <c:v>4407.6399999999876</c:v>
                </c:pt>
                <c:pt idx="8">
                  <c:v>196405.95000000781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7C2D-4826-8BB5-65DFA1E0AC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44701119"/>
        <c:axId val="1944686559"/>
      </c:barChart>
      <c:catAx>
        <c:axId val="19447011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4686559"/>
        <c:crosses val="autoZero"/>
        <c:auto val="1"/>
        <c:lblAlgn val="ctr"/>
        <c:lblOffset val="100"/>
        <c:noMultiLvlLbl val="0"/>
      </c:catAx>
      <c:valAx>
        <c:axId val="19446865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R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47011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1270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Bright Coffee Shop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Prepared for the CEO</a:t>
            </a:r>
          </a:p>
          <a:p>
            <a:r>
              <a:rPr dirty="0"/>
              <a:t>Prepared by: </a:t>
            </a:r>
            <a:r>
              <a:rPr dirty="0" err="1"/>
              <a:t>Lerato</a:t>
            </a:r>
            <a:r>
              <a:rPr dirty="0"/>
              <a:t> Mashego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383721"/>
            <a:ext cx="2514600" cy="22206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500" dirty="0"/>
              <a:t>1. About the Coffee Shop &amp; Product Category</a:t>
            </a:r>
          </a:p>
          <a:p>
            <a:pPr marL="0" indent="0">
              <a:buNone/>
            </a:pPr>
            <a:r>
              <a:rPr sz="2500" dirty="0"/>
              <a:t>2. Revenue by Month</a:t>
            </a:r>
          </a:p>
          <a:p>
            <a:pPr marL="0" indent="0">
              <a:buNone/>
            </a:pPr>
            <a:r>
              <a:rPr sz="2500" dirty="0"/>
              <a:t>3. Revenue by Week</a:t>
            </a:r>
          </a:p>
          <a:p>
            <a:pPr marL="0" indent="0">
              <a:buNone/>
            </a:pPr>
            <a:r>
              <a:rPr sz="2500" dirty="0"/>
              <a:t>4. Revenue by Store Location</a:t>
            </a:r>
          </a:p>
          <a:p>
            <a:pPr marL="0" indent="0">
              <a:buNone/>
            </a:pPr>
            <a:r>
              <a:rPr sz="2500" dirty="0"/>
              <a:t>5. Number of Sales by Day of the Week</a:t>
            </a:r>
          </a:p>
          <a:p>
            <a:pPr marL="0" indent="0">
              <a:buNone/>
            </a:pPr>
            <a:r>
              <a:rPr sz="2500" dirty="0"/>
              <a:t>6. Revenue by Time Bucket (Time of Day)</a:t>
            </a:r>
          </a:p>
          <a:p>
            <a:pPr marL="0" indent="0">
              <a:buNone/>
            </a:pPr>
            <a:r>
              <a:rPr sz="2500" dirty="0"/>
              <a:t>7. Which Category Sells Most</a:t>
            </a:r>
          </a:p>
          <a:p>
            <a:pPr marL="0" indent="0">
              <a:buNone/>
            </a:pPr>
            <a:r>
              <a:rPr sz="2500" dirty="0"/>
              <a:t>8. Summary &amp; Recommendations</a:t>
            </a:r>
          </a:p>
          <a:p>
            <a:pPr marL="0" indent="0">
              <a:buNone/>
            </a:pPr>
            <a:r>
              <a:rPr sz="2500" dirty="0"/>
              <a:t>9.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u="sng" dirty="0"/>
              <a:t>About the Coffee Shop &amp; Product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Bright Coffee Shop is a modern coffee chain serving premium beverages and snacks.</a:t>
            </a:r>
          </a:p>
          <a:p>
            <a:r>
              <a:rPr dirty="0"/>
              <a:t>The dataset covers daily transactions across multiple store locations, including details such as:</a:t>
            </a:r>
          </a:p>
          <a:p>
            <a:pPr marL="0" indent="0">
              <a:buNone/>
            </a:pPr>
            <a:r>
              <a:rPr lang="en-ZA" dirty="0" smtClean="0"/>
              <a:t>	</a:t>
            </a:r>
            <a:r>
              <a:rPr dirty="0" smtClean="0"/>
              <a:t>• </a:t>
            </a:r>
            <a:r>
              <a:rPr dirty="0"/>
              <a:t>Date &amp; Time of Transaction</a:t>
            </a:r>
          </a:p>
          <a:p>
            <a:pPr marL="0" indent="0">
              <a:buNone/>
            </a:pPr>
            <a:r>
              <a:rPr lang="en-ZA" dirty="0" smtClean="0"/>
              <a:t>	</a:t>
            </a:r>
            <a:r>
              <a:rPr dirty="0" smtClean="0"/>
              <a:t>• </a:t>
            </a:r>
            <a:r>
              <a:rPr dirty="0"/>
              <a:t>Product Category and Quantity</a:t>
            </a:r>
          </a:p>
          <a:p>
            <a:pPr marL="0" indent="0">
              <a:buNone/>
            </a:pPr>
            <a:r>
              <a:rPr lang="en-ZA" dirty="0" smtClean="0"/>
              <a:t>	</a:t>
            </a:r>
            <a:r>
              <a:rPr dirty="0" smtClean="0"/>
              <a:t>• </a:t>
            </a:r>
            <a:r>
              <a:rPr dirty="0"/>
              <a:t>Store Location</a:t>
            </a:r>
          </a:p>
          <a:p>
            <a:pPr marL="0" indent="0">
              <a:buNone/>
            </a:pPr>
            <a:r>
              <a:rPr lang="en-ZA" dirty="0" smtClean="0"/>
              <a:t>	</a:t>
            </a:r>
            <a:r>
              <a:rPr dirty="0" smtClean="0"/>
              <a:t>• </a:t>
            </a:r>
            <a:r>
              <a:rPr dirty="0"/>
              <a:t>Revenue per Sale</a:t>
            </a:r>
          </a:p>
          <a:p>
            <a:endParaRPr dirty="0"/>
          </a:p>
          <a:p>
            <a:r>
              <a:rPr dirty="0"/>
              <a:t>Objective:</a:t>
            </a:r>
          </a:p>
          <a:p>
            <a:r>
              <a:rPr dirty="0"/>
              <a:t>Provide insights into sales performance and product trends to guide the CEO’s business strategy.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Revenue by Month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898570"/>
          </a:xfrm>
        </p:spPr>
        <p:txBody>
          <a:bodyPr/>
          <a:lstStyle/>
          <a:p>
            <a:r>
              <a:rPr sz="2400" dirty="0"/>
              <a:t>Monthly revenue trends highlighting peak and slow sales periods</a:t>
            </a:r>
            <a:r>
              <a:rPr sz="2400" dirty="0" smtClean="0"/>
              <a:t>.</a:t>
            </a:r>
            <a:endParaRPr lang="en-ZA" sz="2400" dirty="0" smtClean="0"/>
          </a:p>
          <a:p>
            <a:r>
              <a:rPr lang="en-US" sz="2400" dirty="0"/>
              <a:t>Revenue increased steadily from January to June, with the highest in May and June.</a:t>
            </a:r>
            <a:endParaRPr lang="en-ZA" sz="2400" dirty="0" smtClean="0"/>
          </a:p>
          <a:p>
            <a:pPr marL="0" indent="0">
              <a:buNone/>
            </a:pPr>
            <a:endParaRPr sz="2400" dirty="0"/>
          </a:p>
        </p:txBody>
      </p:sp>
      <p:sp>
        <p:nvSpPr>
          <p:cNvPr id="5" name="AutoShape 2" descr="1pc 5d diy diamond painting kit   coffee themed round acrylic diamonds   acrylic art craft for beginners home wall decor gif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7506895"/>
              </p:ext>
            </p:extLst>
          </p:nvPr>
        </p:nvGraphicFramePr>
        <p:xfrm>
          <a:off x="2124348" y="3518808"/>
          <a:ext cx="54178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Revenue by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Weekly revenue patterns showing consistent sales </a:t>
            </a:r>
            <a:r>
              <a:rPr sz="2400" dirty="0" smtClean="0"/>
              <a:t>trends</a:t>
            </a:r>
            <a:r>
              <a:rPr lang="en-ZA" sz="2400" dirty="0" smtClean="0"/>
              <a:t> across all stores</a:t>
            </a:r>
            <a:r>
              <a:rPr sz="2400" dirty="0" smtClean="0"/>
              <a:t>.</a:t>
            </a:r>
            <a:endParaRPr sz="2400" dirty="0"/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7051109"/>
              </p:ext>
            </p:extLst>
          </p:nvPr>
        </p:nvGraphicFramePr>
        <p:xfrm>
          <a:off x="2220685" y="3200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Revenue by Store 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47557"/>
          </a:xfrm>
        </p:spPr>
        <p:txBody>
          <a:bodyPr>
            <a:normAutofit/>
          </a:bodyPr>
          <a:lstStyle/>
          <a:p>
            <a:r>
              <a:rPr sz="2400" dirty="0"/>
              <a:t>Revenue contribution per store location</a:t>
            </a:r>
            <a:r>
              <a:rPr sz="2400" dirty="0" smtClean="0"/>
              <a:t>.</a:t>
            </a:r>
            <a:endParaRPr lang="en-ZA" sz="2400" dirty="0" smtClean="0"/>
          </a:p>
          <a:p>
            <a:r>
              <a:rPr lang="en-US" sz="2400" dirty="0"/>
              <a:t>Hell’s Kitchen recorded the highest revenue contribution, indicating stronger customer traffic and sales performance compared to the other stores.</a:t>
            </a:r>
            <a:endParaRPr sz="2400" dirty="0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7115026"/>
              </p:ext>
            </p:extLst>
          </p:nvPr>
        </p:nvGraphicFramePr>
        <p:xfrm>
          <a:off x="2455817" y="3551464"/>
          <a:ext cx="46405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u="sng" dirty="0"/>
              <a:t>Number of Sales by Day of the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25093"/>
          </a:xfrm>
        </p:spPr>
        <p:txBody>
          <a:bodyPr>
            <a:normAutofit/>
          </a:bodyPr>
          <a:lstStyle/>
          <a:p>
            <a:r>
              <a:rPr sz="2400" dirty="0"/>
              <a:t>Sales frequency across different days of the week</a:t>
            </a:r>
            <a:r>
              <a:rPr sz="2400" dirty="0" smtClean="0"/>
              <a:t>.</a:t>
            </a:r>
            <a:endParaRPr lang="en-ZA" sz="2400" dirty="0" smtClean="0"/>
          </a:p>
          <a:p>
            <a:r>
              <a:rPr lang="en-US" sz="2400" dirty="0"/>
              <a:t>Sunday, Monday, and Friday recorded the highest sales frequency, highlighting strong customer activity at both the start and end of the week.</a:t>
            </a:r>
            <a:endParaRPr sz="2400" dirty="0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1698721"/>
              </p:ext>
            </p:extLst>
          </p:nvPr>
        </p:nvGraphicFramePr>
        <p:xfrm>
          <a:off x="2034540" y="3486150"/>
          <a:ext cx="54178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Revenue by Time Bucket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98571"/>
          </a:xfrm>
        </p:spPr>
        <p:txBody>
          <a:bodyPr>
            <a:normAutofit/>
          </a:bodyPr>
          <a:lstStyle/>
          <a:p>
            <a:r>
              <a:rPr sz="2400" dirty="0"/>
              <a:t>Revenue performance based on time of day</a:t>
            </a:r>
            <a:r>
              <a:rPr sz="2400" dirty="0" smtClean="0"/>
              <a:t>.</a:t>
            </a:r>
            <a:endParaRPr lang="en-ZA" sz="2400" dirty="0" smtClean="0"/>
          </a:p>
          <a:p>
            <a:r>
              <a:rPr lang="en-US" sz="2400" dirty="0"/>
              <a:t>Most sales occur during the morning hours, indicating peak customer activity and strong demand for coffee and breakfast items.</a:t>
            </a:r>
            <a:endParaRPr sz="2400" dirty="0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5351556"/>
              </p:ext>
            </p:extLst>
          </p:nvPr>
        </p:nvGraphicFramePr>
        <p:xfrm>
          <a:off x="1977390" y="3429000"/>
          <a:ext cx="51892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Which Category Sells Most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37125"/>
          </a:xfrm>
        </p:spPr>
        <p:txBody>
          <a:bodyPr>
            <a:normAutofit/>
          </a:bodyPr>
          <a:lstStyle/>
          <a:p>
            <a:r>
              <a:rPr sz="2400" dirty="0"/>
              <a:t>Top product categories contributing to overall revenue</a:t>
            </a:r>
            <a:r>
              <a:rPr sz="2400" dirty="0" smtClean="0"/>
              <a:t>.</a:t>
            </a:r>
            <a:endParaRPr lang="en-ZA" sz="2400" dirty="0" smtClean="0"/>
          </a:p>
          <a:p>
            <a:r>
              <a:rPr lang="en-US" sz="2400" dirty="0"/>
              <a:t>Coffee, tea, and bakery products drive the majority of sales, while packaged chocolate, branded goods, and loose tea </a:t>
            </a:r>
            <a:r>
              <a:rPr lang="en-US" sz="2400" dirty="0" smtClean="0"/>
              <a:t>underperform suggesting </a:t>
            </a:r>
            <a:r>
              <a:rPr lang="en-US" sz="2400" dirty="0"/>
              <a:t>opportunities for targeted promotions or product repositioning.</a:t>
            </a:r>
            <a:endParaRPr sz="2400" dirty="0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5361276"/>
              </p:ext>
            </p:extLst>
          </p:nvPr>
        </p:nvGraphicFramePr>
        <p:xfrm>
          <a:off x="2074272" y="3665764"/>
          <a:ext cx="44729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Summary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Summary: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Morning hours and weekends/early-week days generate the highest sales. Coffee, tea, and bakery items drive most revenue, with the Hell’s Kitchen store leading overall performance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Recommendations:</a:t>
            </a:r>
            <a:endParaRPr lang="en-US" sz="2000" dirty="0"/>
          </a:p>
          <a:p>
            <a:r>
              <a:rPr lang="en-US" sz="2000" dirty="0"/>
              <a:t>Increase stock and staff during peak hours.</a:t>
            </a:r>
          </a:p>
          <a:p>
            <a:r>
              <a:rPr lang="en-US" sz="2000" dirty="0"/>
              <a:t>Focus marketing on top-performing stores.</a:t>
            </a:r>
          </a:p>
          <a:p>
            <a:r>
              <a:rPr lang="en-US" sz="2000" dirty="0"/>
              <a:t>Offer bundle deals for low-performing products.</a:t>
            </a:r>
          </a:p>
          <a:p>
            <a:r>
              <a:rPr lang="en-US" sz="2000" dirty="0"/>
              <a:t>Replicate Hell’s Kitchen’s successful strategies in other locations.</a:t>
            </a:r>
          </a:p>
          <a:p>
            <a:r>
              <a:rPr lang="en-US" sz="2000" dirty="0"/>
              <a:t>Use automated dashboards to monitor daily sales and performance in real time.</a:t>
            </a:r>
          </a:p>
          <a:p>
            <a:pPr marL="0" indent="0"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25093"/>
          </a:xfrm>
        </p:spPr>
        <p:txBody>
          <a:bodyPr>
            <a:normAutofit/>
          </a:bodyPr>
          <a:lstStyle/>
          <a:p>
            <a:r>
              <a:rPr lang="en-US" sz="2400" dirty="0"/>
              <a:t>Mornings and early-week/weekend days drive the most sales, led by coffee, tea, and bakery items. </a:t>
            </a:r>
            <a:endParaRPr lang="en-US" sz="2400" dirty="0" smtClean="0"/>
          </a:p>
          <a:p>
            <a:r>
              <a:rPr lang="en-US" sz="2400" dirty="0" smtClean="0"/>
              <a:t>Hell’s </a:t>
            </a:r>
            <a:r>
              <a:rPr lang="en-US" sz="2400" dirty="0"/>
              <a:t>Kitchen sets the performance benchmark. </a:t>
            </a:r>
            <a:endParaRPr lang="en-US" sz="2400" dirty="0" smtClean="0"/>
          </a:p>
          <a:p>
            <a:r>
              <a:rPr lang="en-US" sz="2400" dirty="0" smtClean="0"/>
              <a:t>Focusing </a:t>
            </a:r>
            <a:r>
              <a:rPr lang="en-US" sz="2400" dirty="0"/>
              <a:t>on peak hours, promoting low-performing products, replicating best practices, preparing for seasonal demand, and using real-time dashboards will boost revenue and efficiency.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5" name="AutoShape 2" descr="1pc 5d diy diamond painting kit   coffee themed round acrylic diamonds   acrylic art craft for beginners home wall decor gif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557" y="4012746"/>
            <a:ext cx="3224892" cy="22600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396</Words>
  <Application>Microsoft Office PowerPoint</Application>
  <PresentationFormat>On-screen Show (4:3)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Bright Coffee Shop Sales Analysis</vt:lpstr>
      <vt:lpstr>Table of Contents</vt:lpstr>
      <vt:lpstr>About the Coffee Shop &amp; Product Category</vt:lpstr>
      <vt:lpstr>Revenue by Month</vt:lpstr>
      <vt:lpstr>Revenue by Week</vt:lpstr>
      <vt:lpstr>Revenue by Store Location</vt:lpstr>
      <vt:lpstr>Number of Sales by Day of the Week</vt:lpstr>
      <vt:lpstr>Revenue by Time Bucket</vt:lpstr>
      <vt:lpstr>Which Category Sells Most</vt:lpstr>
      <vt:lpstr>Summary &amp;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Coffee Shop Sales Analysis</dc:title>
  <dc:subject/>
  <dc:creator>NL Mashego</dc:creator>
  <cp:keywords/>
  <dc:description>generated using python-pptx</dc:description>
  <cp:lastModifiedBy>NL Mashego</cp:lastModifiedBy>
  <cp:revision>9</cp:revision>
  <dcterms:created xsi:type="dcterms:W3CDTF">2013-01-27T09:14:16Z</dcterms:created>
  <dcterms:modified xsi:type="dcterms:W3CDTF">2025-11-12T08:58:35Z</dcterms:modified>
  <cp:category/>
</cp:coreProperties>
</file>
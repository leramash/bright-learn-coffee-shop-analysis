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138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L%20Mashego\Desktop\BrightLearn(DAT)\Case%20Study%201-%20Lerato%20Masheg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L%20Mashego\Desktop\BrightLearn(DAT)\Case%20Study%201-%20Lerato%20Mashego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L%20Mashego\Desktop\BrightLearn(DAT)\Case%20Study%201-%20Lerato%20Mashego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L%20Mashego\Desktop\BrightLearn(DAT)\Case%20Study%201-%20Lerato%20Mashego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L%20Mashego\Desktop\BrightLearn(DAT)\Case%20Study%201-%20Lerato%20Mashego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L%20Mashego\Desktop\BrightLearn(DAT)\Case%20Study%201-%20Lerato%20Mashego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[Case Study 1- Lerato Mashego.xlsx]Revenue By Month!PivotTable1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Revenue</a:t>
            </a:r>
            <a:r>
              <a:rPr lang="en-ZA" baseline="0"/>
              <a:t> By Month </a:t>
            </a:r>
            <a:endParaRPr lang="en-ZA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6"/>
        <c:spPr>
          <a:solidFill>
            <a:schemeClr val="accent2"/>
          </a:solidFill>
          <a:ln>
            <a:noFill/>
          </a:ln>
          <a:effectLst/>
        </c:spPr>
      </c:pivotFmt>
      <c:pivotFmt>
        <c:idx val="17"/>
        <c:spPr>
          <a:solidFill>
            <a:schemeClr val="accent2"/>
          </a:solidFill>
          <a:ln>
            <a:noFill/>
          </a:ln>
          <a:effectLst/>
        </c:spPr>
      </c:pivotFmt>
      <c:pivotFmt>
        <c:idx val="18"/>
        <c:spPr>
          <a:solidFill>
            <a:schemeClr val="accent2"/>
          </a:solidFill>
          <a:ln>
            <a:noFill/>
          </a:ln>
          <a:effectLst/>
        </c:spPr>
      </c:pivotFmt>
      <c:pivotFmt>
        <c:idx val="19"/>
        <c:spPr>
          <a:solidFill>
            <a:schemeClr val="accent2"/>
          </a:solidFill>
          <a:ln>
            <a:noFill/>
          </a:ln>
          <a:effectLst/>
        </c:spPr>
      </c:pivotFmt>
      <c:pivotFmt>
        <c:idx val="20"/>
        <c:spPr>
          <a:solidFill>
            <a:schemeClr val="accent2"/>
          </a:solidFill>
          <a:ln>
            <a:noFill/>
          </a:ln>
          <a:effectLst/>
        </c:spPr>
      </c:pivotFmt>
      <c:pivotFmt>
        <c:idx val="21"/>
        <c:spPr>
          <a:solidFill>
            <a:schemeClr val="accent2"/>
          </a:solidFill>
          <a:ln>
            <a:noFill/>
          </a:ln>
          <a:effectLst/>
        </c:spPr>
      </c:pivotFmt>
      <c:pivotFmt>
        <c:idx val="2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3"/>
        <c:spPr>
          <a:solidFill>
            <a:schemeClr val="accent2"/>
          </a:solidFill>
          <a:ln>
            <a:noFill/>
          </a:ln>
          <a:effectLst/>
        </c:spPr>
      </c:pivotFmt>
      <c:pivotFmt>
        <c:idx val="24"/>
        <c:spPr>
          <a:solidFill>
            <a:schemeClr val="accent2"/>
          </a:solidFill>
          <a:ln>
            <a:noFill/>
          </a:ln>
          <a:effectLst/>
        </c:spPr>
      </c:pivotFmt>
      <c:pivotFmt>
        <c:idx val="25"/>
        <c:spPr>
          <a:solidFill>
            <a:schemeClr val="accent2"/>
          </a:solidFill>
          <a:ln>
            <a:noFill/>
          </a:ln>
          <a:effectLst/>
        </c:spPr>
      </c:pivotFmt>
      <c:pivotFmt>
        <c:idx val="26"/>
        <c:spPr>
          <a:solidFill>
            <a:schemeClr val="accent2"/>
          </a:solidFill>
          <a:ln>
            <a:noFill/>
          </a:ln>
          <a:effectLst/>
        </c:spPr>
      </c:pivotFmt>
      <c:pivotFmt>
        <c:idx val="27"/>
        <c:spPr>
          <a:solidFill>
            <a:schemeClr val="accent2"/>
          </a:solidFill>
          <a:ln>
            <a:noFill/>
          </a:ln>
          <a:effectLst/>
        </c:spPr>
      </c:pivotFmt>
      <c:pivotFmt>
        <c:idx val="28"/>
        <c:spPr>
          <a:solidFill>
            <a:schemeClr val="accent2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'Revenue By Month'!$B$3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84A-4A32-B98A-E76C5A1E09CB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84A-4A32-B98A-E76C5A1E09CB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84A-4A32-B98A-E76C5A1E09CB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84A-4A32-B98A-E76C5A1E09CB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84A-4A32-B98A-E76C5A1E09CB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84A-4A32-B98A-E76C5A1E09CB}"/>
              </c:ext>
            </c:extLst>
          </c:dPt>
          <c:dLbls>
            <c:delete val="1"/>
          </c:dLbls>
          <c:cat>
            <c:strRef>
              <c:f>'Revenue By Month'!$A$4:$A$10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'Revenue By Month'!$B$4:$B$10</c:f>
              <c:numCache>
                <c:formatCode>"R"#,##0</c:formatCode>
                <c:ptCount val="6"/>
                <c:pt idx="0">
                  <c:v>15739</c:v>
                </c:pt>
                <c:pt idx="1">
                  <c:v>14829</c:v>
                </c:pt>
                <c:pt idx="2">
                  <c:v>18981</c:v>
                </c:pt>
                <c:pt idx="3">
                  <c:v>22131</c:v>
                </c:pt>
                <c:pt idx="4">
                  <c:v>28239</c:v>
                </c:pt>
                <c:pt idx="5">
                  <c:v>29263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84A-4A32-B98A-E76C5A1E09C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39737552"/>
        <c:axId val="539732144"/>
      </c:barChart>
      <c:catAx>
        <c:axId val="539737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9732144"/>
        <c:crosses val="autoZero"/>
        <c:auto val="1"/>
        <c:lblAlgn val="ctr"/>
        <c:lblOffset val="100"/>
        <c:noMultiLvlLbl val="0"/>
      </c:catAx>
      <c:valAx>
        <c:axId val="539732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97375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[Case Study 1- Lerato Mashego.xlsx]Revenue By Month!PivotTable2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Revenue</a:t>
            </a:r>
            <a:r>
              <a:rPr lang="en-ZA" baseline="0"/>
              <a:t> By Week and Store location</a:t>
            </a:r>
            <a:endParaRPr lang="en-ZA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'Revenue By Month'!$B$19:$B$20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'Revenue By Month'!$A$21:$A$28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'Revenue By Month'!$B$21:$B$28</c:f>
              <c:numCache>
                <c:formatCode>"R"#,##0</c:formatCode>
                <c:ptCount val="7"/>
                <c:pt idx="0">
                  <c:v>6146</c:v>
                </c:pt>
                <c:pt idx="1">
                  <c:v>6303</c:v>
                </c:pt>
                <c:pt idx="2">
                  <c:v>5995</c:v>
                </c:pt>
                <c:pt idx="3">
                  <c:v>6377</c:v>
                </c:pt>
                <c:pt idx="4">
                  <c:v>6335</c:v>
                </c:pt>
                <c:pt idx="5">
                  <c:v>6257</c:v>
                </c:pt>
                <c:pt idx="6">
                  <c:v>5910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A4-4F0D-8305-6C9AC493F5D3}"/>
            </c:ext>
          </c:extLst>
        </c:ser>
        <c:ser>
          <c:idx val="1"/>
          <c:order val="1"/>
          <c:tx>
            <c:strRef>
              <c:f>'Revenue By Month'!$C$19:$C$20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'Revenue By Month'!$A$21:$A$28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'Revenue By Month'!$C$21:$C$28</c:f>
              <c:numCache>
                <c:formatCode>"R"#,##0</c:formatCode>
                <c:ptCount val="7"/>
                <c:pt idx="0">
                  <c:v>6336</c:v>
                </c:pt>
                <c:pt idx="1">
                  <c:v>6176</c:v>
                </c:pt>
                <c:pt idx="2">
                  <c:v>6321</c:v>
                </c:pt>
                <c:pt idx="3">
                  <c:v>6231</c:v>
                </c:pt>
                <c:pt idx="4">
                  <c:v>6351</c:v>
                </c:pt>
                <c:pt idx="5">
                  <c:v>6448</c:v>
                </c:pt>
                <c:pt idx="6">
                  <c:v>5886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A4-4F0D-8305-6C9AC493F5D3}"/>
            </c:ext>
          </c:extLst>
        </c:ser>
        <c:ser>
          <c:idx val="2"/>
          <c:order val="2"/>
          <c:tx>
            <c:strRef>
              <c:f>'Revenue By Month'!$D$19:$D$20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'Revenue By Month'!$A$21:$A$28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'Revenue By Month'!$D$21:$D$28</c:f>
              <c:numCache>
                <c:formatCode>"R"#,##0</c:formatCode>
                <c:ptCount val="7"/>
                <c:pt idx="0">
                  <c:v>5877</c:v>
                </c:pt>
                <c:pt idx="1">
                  <c:v>6282</c:v>
                </c:pt>
                <c:pt idx="2">
                  <c:v>5877</c:v>
                </c:pt>
                <c:pt idx="3">
                  <c:v>5964</c:v>
                </c:pt>
                <c:pt idx="4">
                  <c:v>6132</c:v>
                </c:pt>
                <c:pt idx="5">
                  <c:v>6034</c:v>
                </c:pt>
                <c:pt idx="6">
                  <c:v>5944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0A4-4F0D-8305-6C9AC493F5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435909008"/>
        <c:axId val="435910672"/>
      </c:barChart>
      <c:catAx>
        <c:axId val="435909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5910672"/>
        <c:crosses val="autoZero"/>
        <c:auto val="1"/>
        <c:lblAlgn val="ctr"/>
        <c:lblOffset val="100"/>
        <c:noMultiLvlLbl val="0"/>
      </c:catAx>
      <c:valAx>
        <c:axId val="43591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5909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[Case Study 1- Lerato Mashego.xlsx]Revenue By Store!PivotTable1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Revenue</a:t>
            </a:r>
            <a:r>
              <a:rPr lang="en-ZA" baseline="0"/>
              <a:t> by Store location </a:t>
            </a:r>
            <a:endParaRPr lang="en-ZA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'Revenue By Store'!$B$47:$B$48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'Revenue By Store'!$A$49:$A$56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'Revenue By Store'!$B$49:$B$56</c:f>
              <c:numCache>
                <c:formatCode>"R"#,##0</c:formatCode>
                <c:ptCount val="7"/>
                <c:pt idx="0">
                  <c:v>6146</c:v>
                </c:pt>
                <c:pt idx="1">
                  <c:v>6303</c:v>
                </c:pt>
                <c:pt idx="2">
                  <c:v>5995</c:v>
                </c:pt>
                <c:pt idx="3">
                  <c:v>6377</c:v>
                </c:pt>
                <c:pt idx="4">
                  <c:v>6335</c:v>
                </c:pt>
                <c:pt idx="5">
                  <c:v>6257</c:v>
                </c:pt>
                <c:pt idx="6">
                  <c:v>5910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4C-47DC-8AEC-B9609220FEFA}"/>
            </c:ext>
          </c:extLst>
        </c:ser>
        <c:ser>
          <c:idx val="1"/>
          <c:order val="1"/>
          <c:tx>
            <c:strRef>
              <c:f>'Revenue By Store'!$C$47:$C$48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'Revenue By Store'!$A$49:$A$56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'Revenue By Store'!$C$49:$C$56</c:f>
              <c:numCache>
                <c:formatCode>"R"#,##0</c:formatCode>
                <c:ptCount val="7"/>
                <c:pt idx="0">
                  <c:v>6336</c:v>
                </c:pt>
                <c:pt idx="1">
                  <c:v>6176</c:v>
                </c:pt>
                <c:pt idx="2">
                  <c:v>6321</c:v>
                </c:pt>
                <c:pt idx="3">
                  <c:v>6231</c:v>
                </c:pt>
                <c:pt idx="4">
                  <c:v>6351</c:v>
                </c:pt>
                <c:pt idx="5">
                  <c:v>6448</c:v>
                </c:pt>
                <c:pt idx="6">
                  <c:v>5886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4C-47DC-8AEC-B9609220FEFA}"/>
            </c:ext>
          </c:extLst>
        </c:ser>
        <c:ser>
          <c:idx val="2"/>
          <c:order val="2"/>
          <c:tx>
            <c:strRef>
              <c:f>'Revenue By Store'!$D$47:$D$48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'Revenue By Store'!$A$49:$A$56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'Revenue By Store'!$D$49:$D$56</c:f>
              <c:numCache>
                <c:formatCode>"R"#,##0</c:formatCode>
                <c:ptCount val="7"/>
                <c:pt idx="0">
                  <c:v>5877</c:v>
                </c:pt>
                <c:pt idx="1">
                  <c:v>6282</c:v>
                </c:pt>
                <c:pt idx="2">
                  <c:v>5877</c:v>
                </c:pt>
                <c:pt idx="3">
                  <c:v>5964</c:v>
                </c:pt>
                <c:pt idx="4">
                  <c:v>6132</c:v>
                </c:pt>
                <c:pt idx="5">
                  <c:v>6034</c:v>
                </c:pt>
                <c:pt idx="6">
                  <c:v>5944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4C-47DC-8AEC-B9609220FE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29225072"/>
        <c:axId val="1280671664"/>
      </c:barChart>
      <c:catAx>
        <c:axId val="829225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0671664"/>
        <c:crosses val="autoZero"/>
        <c:auto val="1"/>
        <c:lblAlgn val="ctr"/>
        <c:lblOffset val="100"/>
        <c:noMultiLvlLbl val="0"/>
      </c:catAx>
      <c:valAx>
        <c:axId val="1280671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9225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[Case Study 1- Lerato Mashego.xlsx]Sales VS Day of the week!PivotTable6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Number</a:t>
            </a:r>
            <a:r>
              <a:rPr lang="en-ZA" baseline="0"/>
              <a:t> of sales by Day of the Week</a:t>
            </a:r>
            <a:endParaRPr lang="en-ZA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</c:pivotFmt>
      <c:pivotFmt>
        <c:idx val="16"/>
        <c:spPr>
          <a:solidFill>
            <a:schemeClr val="accent2"/>
          </a:solidFill>
          <a:ln>
            <a:noFill/>
          </a:ln>
          <a:effectLst/>
        </c:spPr>
      </c:pivotFmt>
      <c:pivotFmt>
        <c:idx val="1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8"/>
        <c:spPr>
          <a:solidFill>
            <a:schemeClr val="accent2"/>
          </a:solidFill>
          <a:ln>
            <a:noFill/>
          </a:ln>
          <a:effectLst/>
        </c:spPr>
      </c:pivotFmt>
      <c:pivotFmt>
        <c:idx val="19"/>
        <c:spPr>
          <a:solidFill>
            <a:schemeClr val="accent2"/>
          </a:solidFill>
          <a:ln>
            <a:noFill/>
          </a:ln>
          <a:effectLst/>
        </c:spPr>
      </c:pivotFmt>
      <c:pivotFmt>
        <c:idx val="20"/>
        <c:spPr>
          <a:solidFill>
            <a:schemeClr val="accent2"/>
          </a:solidFill>
          <a:ln>
            <a:noFill/>
          </a:ln>
          <a:effectLst/>
        </c:spPr>
      </c:pivotFmt>
      <c:pivotFmt>
        <c:idx val="21"/>
        <c:spPr>
          <a:solidFill>
            <a:schemeClr val="accent2"/>
          </a:solidFill>
          <a:ln>
            <a:noFill/>
          </a:ln>
          <a:effectLst/>
        </c:spPr>
      </c:pivotFmt>
      <c:pivotFmt>
        <c:idx val="22"/>
        <c:spPr>
          <a:solidFill>
            <a:schemeClr val="accent2"/>
          </a:solidFill>
          <a:ln>
            <a:noFill/>
          </a:ln>
          <a:effectLst/>
        </c:spPr>
      </c:pivotFmt>
      <c:pivotFmt>
        <c:idx val="23"/>
        <c:spPr>
          <a:solidFill>
            <a:schemeClr val="accent2"/>
          </a:solidFill>
          <a:ln>
            <a:noFill/>
          </a:ln>
          <a:effectLst/>
        </c:spPr>
      </c:pivotFmt>
      <c:pivotFmt>
        <c:idx val="24"/>
        <c:spPr>
          <a:solidFill>
            <a:schemeClr val="accent2"/>
          </a:solidFill>
          <a:ln>
            <a:noFill/>
          </a:ln>
          <a:effectLst/>
        </c:spPr>
      </c:pivotFmt>
      <c:pivotFmt>
        <c:idx val="2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6"/>
        <c:spPr>
          <a:solidFill>
            <a:schemeClr val="accent2"/>
          </a:solidFill>
          <a:ln>
            <a:noFill/>
          </a:ln>
          <a:effectLst/>
        </c:spPr>
      </c:pivotFmt>
      <c:pivotFmt>
        <c:idx val="27"/>
        <c:spPr>
          <a:solidFill>
            <a:schemeClr val="accent2"/>
          </a:solidFill>
          <a:ln>
            <a:noFill/>
          </a:ln>
          <a:effectLst/>
        </c:spPr>
      </c:pivotFmt>
      <c:pivotFmt>
        <c:idx val="28"/>
        <c:spPr>
          <a:solidFill>
            <a:schemeClr val="accent2"/>
          </a:solidFill>
          <a:ln>
            <a:noFill/>
          </a:ln>
          <a:effectLst/>
        </c:spPr>
      </c:pivotFmt>
      <c:pivotFmt>
        <c:idx val="29"/>
        <c:spPr>
          <a:solidFill>
            <a:schemeClr val="accent2"/>
          </a:solidFill>
          <a:ln>
            <a:noFill/>
          </a:ln>
          <a:effectLst/>
        </c:spPr>
      </c:pivotFmt>
      <c:pivotFmt>
        <c:idx val="30"/>
        <c:spPr>
          <a:solidFill>
            <a:schemeClr val="accent2"/>
          </a:solidFill>
          <a:ln>
            <a:noFill/>
          </a:ln>
          <a:effectLst/>
        </c:spPr>
      </c:pivotFmt>
      <c:pivotFmt>
        <c:idx val="31"/>
        <c:spPr>
          <a:solidFill>
            <a:schemeClr val="accent2"/>
          </a:solidFill>
          <a:ln>
            <a:noFill/>
          </a:ln>
          <a:effectLst/>
        </c:spPr>
      </c:pivotFmt>
      <c:pivotFmt>
        <c:idx val="32"/>
        <c:spPr>
          <a:solidFill>
            <a:schemeClr val="accent2"/>
          </a:solidFill>
          <a:ln>
            <a:noFill/>
          </a:ln>
          <a:effectLst/>
        </c:spPr>
      </c:pivotFmt>
      <c:pivotFmt>
        <c:idx val="3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4"/>
        <c:spPr>
          <a:solidFill>
            <a:schemeClr val="accent2"/>
          </a:solidFill>
          <a:ln>
            <a:noFill/>
          </a:ln>
          <a:effectLst/>
        </c:spPr>
      </c:pivotFmt>
      <c:pivotFmt>
        <c:idx val="35"/>
        <c:spPr>
          <a:solidFill>
            <a:schemeClr val="accent2"/>
          </a:solidFill>
          <a:ln>
            <a:noFill/>
          </a:ln>
          <a:effectLst/>
        </c:spPr>
      </c:pivotFmt>
      <c:pivotFmt>
        <c:idx val="36"/>
        <c:spPr>
          <a:solidFill>
            <a:schemeClr val="accent2"/>
          </a:solidFill>
          <a:ln>
            <a:noFill/>
          </a:ln>
          <a:effectLst/>
        </c:spPr>
      </c:pivotFmt>
      <c:pivotFmt>
        <c:idx val="37"/>
        <c:spPr>
          <a:solidFill>
            <a:schemeClr val="accent2"/>
          </a:solidFill>
          <a:ln>
            <a:noFill/>
          </a:ln>
          <a:effectLst/>
        </c:spPr>
      </c:pivotFmt>
      <c:pivotFmt>
        <c:idx val="38"/>
        <c:spPr>
          <a:solidFill>
            <a:schemeClr val="accent2"/>
          </a:solidFill>
          <a:ln>
            <a:noFill/>
          </a:ln>
          <a:effectLst/>
        </c:spPr>
      </c:pivotFmt>
      <c:pivotFmt>
        <c:idx val="39"/>
        <c:spPr>
          <a:solidFill>
            <a:schemeClr val="accent2"/>
          </a:solidFill>
          <a:ln>
            <a:noFill/>
          </a:ln>
          <a:effectLst/>
        </c:spPr>
      </c:pivotFmt>
      <c:pivotFmt>
        <c:idx val="40"/>
        <c:spPr>
          <a:solidFill>
            <a:schemeClr val="accent2"/>
          </a:solidFill>
          <a:ln>
            <a:noFill/>
          </a:ln>
          <a:effectLst/>
        </c:spPr>
      </c:pivotFmt>
    </c:pivotFmts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'Sales VS Day of the week'!$B$3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11A-4143-84B3-13D23CFD998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11A-4143-84B3-13D23CFD998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11A-4143-84B3-13D23CFD9981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11A-4143-84B3-13D23CFD9981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11A-4143-84B3-13D23CFD9981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111A-4143-84B3-13D23CFD9981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111A-4143-84B3-13D23CFD9981}"/>
              </c:ext>
            </c:extLst>
          </c:dPt>
          <c:cat>
            <c:strRef>
              <c:f>'Sales VS Day of the week'!$A$4:$A$11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'Sales VS Day of the week'!$B$4:$B$11</c:f>
              <c:numCache>
                <c:formatCode>General</c:formatCode>
                <c:ptCount val="7"/>
                <c:pt idx="0">
                  <c:v>21096</c:v>
                </c:pt>
                <c:pt idx="1">
                  <c:v>21643</c:v>
                </c:pt>
                <c:pt idx="2">
                  <c:v>21202</c:v>
                </c:pt>
                <c:pt idx="3">
                  <c:v>21310</c:v>
                </c:pt>
                <c:pt idx="4">
                  <c:v>21654</c:v>
                </c:pt>
                <c:pt idx="5">
                  <c:v>21701</c:v>
                </c:pt>
                <c:pt idx="6">
                  <c:v>20510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111A-4143-84B3-13D23CFD99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63343136"/>
        <c:axId val="763326912"/>
      </c:barChart>
      <c:catAx>
        <c:axId val="7633431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3326912"/>
        <c:crosses val="autoZero"/>
        <c:auto val="1"/>
        <c:lblAlgn val="ctr"/>
        <c:lblOffset val="100"/>
        <c:noMultiLvlLbl val="0"/>
      </c:catAx>
      <c:valAx>
        <c:axId val="7633269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3343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[Case Study 1- Lerato Mashego.xlsx]Revenue By Time Bucket!PivotTable1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Revenue</a:t>
            </a:r>
            <a:r>
              <a:rPr lang="en-ZA" baseline="0"/>
              <a:t> By Time Bucket</a:t>
            </a:r>
            <a:endParaRPr lang="en-ZA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0458092738407698"/>
          <c:y val="0.14712744240303297"/>
          <c:w val="0.63069685039370083"/>
          <c:h val="0.6585309128025663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'Revenue By Time Bucket'!$B$3:$B$4</c:f>
              <c:strCache>
                <c:ptCount val="1"/>
                <c:pt idx="0">
                  <c:v>Afternoon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'Revenue By Time Bucket'!$A$5:$A$8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'Revenue By Time Bucket'!$B$5:$B$8</c:f>
              <c:numCache>
                <c:formatCode>General</c:formatCode>
                <c:ptCount val="3"/>
                <c:pt idx="0">
                  <c:v>15063</c:v>
                </c:pt>
                <c:pt idx="1">
                  <c:v>11942</c:v>
                </c:pt>
                <c:pt idx="2">
                  <c:v>12895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C7-425F-96BC-8566DC7FB215}"/>
            </c:ext>
          </c:extLst>
        </c:ser>
        <c:ser>
          <c:idx val="1"/>
          <c:order val="1"/>
          <c:tx>
            <c:strRef>
              <c:f>'Revenue By Time Bucket'!$C$3:$C$4</c:f>
              <c:strCache>
                <c:ptCount val="1"/>
                <c:pt idx="0">
                  <c:v>Evening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'Revenue By Time Bucket'!$A$5:$A$8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'Revenue By Time Bucket'!$C$5:$C$8</c:f>
              <c:numCache>
                <c:formatCode>General</c:formatCode>
                <c:ptCount val="3"/>
                <c:pt idx="0">
                  <c:v>9211</c:v>
                </c:pt>
                <c:pt idx="1">
                  <c:v>7672</c:v>
                </c:pt>
                <c:pt idx="2">
                  <c:v>3866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C7-425F-96BC-8566DC7FB215}"/>
            </c:ext>
          </c:extLst>
        </c:ser>
        <c:ser>
          <c:idx val="2"/>
          <c:order val="2"/>
          <c:tx>
            <c:strRef>
              <c:f>'Revenue By Time Bucket'!$D$3:$D$4</c:f>
              <c:strCache>
                <c:ptCount val="1"/>
                <c:pt idx="0">
                  <c:v>Morning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'Revenue By Time Bucket'!$A$5:$A$8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'Revenue By Time Bucket'!$D$5:$D$8</c:f>
              <c:numCache>
                <c:formatCode>General</c:formatCode>
                <c:ptCount val="3"/>
                <c:pt idx="0">
                  <c:v>18959</c:v>
                </c:pt>
                <c:pt idx="1">
                  <c:v>24045</c:v>
                </c:pt>
                <c:pt idx="2">
                  <c:v>25237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FC7-425F-96BC-8566DC7FB2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44440223"/>
        <c:axId val="1944434815"/>
      </c:barChart>
      <c:catAx>
        <c:axId val="19444402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4434815"/>
        <c:crosses val="autoZero"/>
        <c:auto val="1"/>
        <c:lblAlgn val="ctr"/>
        <c:lblOffset val="100"/>
        <c:noMultiLvlLbl val="0"/>
      </c:catAx>
      <c:valAx>
        <c:axId val="19444348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44402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[Case Study 1- Lerato Mashego.xlsx]Product Category!PivotTable4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Product Category Share 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</c:pivotFmt>
      <c:pivotFmt>
        <c:idx val="16"/>
        <c:spPr>
          <a:solidFill>
            <a:schemeClr val="accent2"/>
          </a:solidFill>
          <a:ln>
            <a:noFill/>
          </a:ln>
          <a:effectLst/>
        </c:spPr>
      </c:pivotFmt>
      <c:pivotFmt>
        <c:idx val="17"/>
        <c:spPr>
          <a:solidFill>
            <a:schemeClr val="accent2"/>
          </a:solidFill>
          <a:ln>
            <a:noFill/>
          </a:ln>
          <a:effectLst/>
        </c:spPr>
      </c:pivotFmt>
      <c:pivotFmt>
        <c:idx val="18"/>
        <c:spPr>
          <a:solidFill>
            <a:schemeClr val="accent2"/>
          </a:solidFill>
          <a:ln>
            <a:noFill/>
          </a:ln>
          <a:effectLst/>
        </c:spPr>
      </c:pivotFmt>
      <c:pivotFmt>
        <c:idx val="19"/>
        <c:spPr>
          <a:solidFill>
            <a:schemeClr val="accent2"/>
          </a:solidFill>
          <a:ln>
            <a:noFill/>
          </a:ln>
          <a:effectLst/>
        </c:spPr>
      </c:pivotFmt>
      <c:pivotFmt>
        <c:idx val="20"/>
        <c:spPr>
          <a:solidFill>
            <a:schemeClr val="accent2"/>
          </a:solidFill>
          <a:ln>
            <a:noFill/>
          </a:ln>
          <a:effectLst/>
        </c:spPr>
      </c:pivotFmt>
      <c:pivotFmt>
        <c:idx val="2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2"/>
        <c:spPr>
          <a:solidFill>
            <a:schemeClr val="accent2"/>
          </a:solidFill>
          <a:ln>
            <a:noFill/>
          </a:ln>
          <a:effectLst/>
        </c:spPr>
      </c:pivotFmt>
      <c:pivotFmt>
        <c:idx val="23"/>
        <c:spPr>
          <a:solidFill>
            <a:schemeClr val="accent2"/>
          </a:solidFill>
          <a:ln>
            <a:noFill/>
          </a:ln>
          <a:effectLst/>
        </c:spPr>
      </c:pivotFmt>
      <c:pivotFmt>
        <c:idx val="24"/>
        <c:spPr>
          <a:solidFill>
            <a:schemeClr val="accent2"/>
          </a:solidFill>
          <a:ln>
            <a:noFill/>
          </a:ln>
          <a:effectLst/>
        </c:spPr>
      </c:pivotFmt>
      <c:pivotFmt>
        <c:idx val="25"/>
        <c:spPr>
          <a:solidFill>
            <a:schemeClr val="accent2"/>
          </a:solidFill>
          <a:ln>
            <a:noFill/>
          </a:ln>
          <a:effectLst/>
        </c:spPr>
      </c:pivotFmt>
      <c:pivotFmt>
        <c:idx val="26"/>
        <c:spPr>
          <a:solidFill>
            <a:schemeClr val="accent2"/>
          </a:solidFill>
          <a:ln>
            <a:noFill/>
          </a:ln>
          <a:effectLst/>
        </c:spPr>
      </c:pivotFmt>
      <c:pivotFmt>
        <c:idx val="27"/>
        <c:spPr>
          <a:solidFill>
            <a:schemeClr val="accent2"/>
          </a:solidFill>
          <a:ln>
            <a:noFill/>
          </a:ln>
          <a:effectLst/>
        </c:spPr>
      </c:pivotFmt>
      <c:pivotFmt>
        <c:idx val="28"/>
        <c:spPr>
          <a:solidFill>
            <a:schemeClr val="accent2"/>
          </a:solidFill>
          <a:ln>
            <a:noFill/>
          </a:ln>
          <a:effectLst/>
        </c:spPr>
      </c:pivotFmt>
      <c:pivotFmt>
        <c:idx val="29"/>
        <c:spPr>
          <a:solidFill>
            <a:schemeClr val="accent2"/>
          </a:solidFill>
          <a:ln>
            <a:noFill/>
          </a:ln>
          <a:effectLst/>
        </c:spPr>
      </c:pivotFmt>
      <c:pivotFmt>
        <c:idx val="30"/>
        <c:spPr>
          <a:solidFill>
            <a:schemeClr val="accent2"/>
          </a:solidFill>
          <a:ln>
            <a:noFill/>
          </a:ln>
          <a:effectLst/>
        </c:spPr>
      </c:pivotFmt>
      <c:pivotFmt>
        <c:idx val="3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2"/>
        <c:spPr>
          <a:solidFill>
            <a:schemeClr val="accent2"/>
          </a:solidFill>
          <a:ln>
            <a:noFill/>
          </a:ln>
          <a:effectLst/>
        </c:spPr>
      </c:pivotFmt>
      <c:pivotFmt>
        <c:idx val="33"/>
        <c:spPr>
          <a:solidFill>
            <a:schemeClr val="accent2"/>
          </a:solidFill>
          <a:ln>
            <a:noFill/>
          </a:ln>
          <a:effectLst/>
        </c:spPr>
      </c:pivotFmt>
      <c:pivotFmt>
        <c:idx val="34"/>
        <c:spPr>
          <a:solidFill>
            <a:schemeClr val="accent2"/>
          </a:solidFill>
          <a:ln>
            <a:noFill/>
          </a:ln>
          <a:effectLst/>
        </c:spPr>
      </c:pivotFmt>
      <c:pivotFmt>
        <c:idx val="35"/>
        <c:spPr>
          <a:solidFill>
            <a:schemeClr val="accent2"/>
          </a:solidFill>
          <a:ln>
            <a:noFill/>
          </a:ln>
          <a:effectLst/>
        </c:spPr>
      </c:pivotFmt>
      <c:pivotFmt>
        <c:idx val="36"/>
        <c:spPr>
          <a:solidFill>
            <a:schemeClr val="accent2"/>
          </a:solidFill>
          <a:ln>
            <a:noFill/>
          </a:ln>
          <a:effectLst/>
        </c:spPr>
      </c:pivotFmt>
      <c:pivotFmt>
        <c:idx val="37"/>
        <c:spPr>
          <a:solidFill>
            <a:schemeClr val="accent2"/>
          </a:solidFill>
          <a:ln>
            <a:noFill/>
          </a:ln>
          <a:effectLst/>
        </c:spPr>
      </c:pivotFmt>
      <c:pivotFmt>
        <c:idx val="38"/>
        <c:spPr>
          <a:solidFill>
            <a:schemeClr val="accent2"/>
          </a:solidFill>
          <a:ln>
            <a:noFill/>
          </a:ln>
          <a:effectLst/>
        </c:spPr>
      </c:pivotFmt>
      <c:pivotFmt>
        <c:idx val="39"/>
        <c:spPr>
          <a:solidFill>
            <a:schemeClr val="accent2"/>
          </a:solidFill>
          <a:ln>
            <a:noFill/>
          </a:ln>
          <a:effectLst/>
        </c:spPr>
      </c:pivotFmt>
      <c:pivotFmt>
        <c:idx val="40"/>
        <c:spPr>
          <a:solidFill>
            <a:schemeClr val="accent2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'Product Category'!$B$3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298-4B23-B7A5-874E0BF684F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298-4B23-B7A5-874E0BF684F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298-4B23-B7A5-874E0BF684F1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298-4B23-B7A5-874E0BF684F1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298-4B23-B7A5-874E0BF684F1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1298-4B23-B7A5-874E0BF684F1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1298-4B23-B7A5-874E0BF684F1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1298-4B23-B7A5-874E0BF684F1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1298-4B23-B7A5-874E0BF684F1}"/>
              </c:ext>
            </c:extLst>
          </c:dPt>
          <c:cat>
            <c:strRef>
              <c:f>'Product Category'!$A$4:$A$13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'Product Category'!$B$4:$B$13</c:f>
              <c:numCache>
                <c:formatCode>"R"#,##0</c:formatCode>
                <c:ptCount val="9"/>
                <c:pt idx="0">
                  <c:v>18285</c:v>
                </c:pt>
                <c:pt idx="1">
                  <c:v>710</c:v>
                </c:pt>
                <c:pt idx="2">
                  <c:v>51238</c:v>
                </c:pt>
                <c:pt idx="3">
                  <c:v>1689</c:v>
                </c:pt>
                <c:pt idx="4">
                  <c:v>10039</c:v>
                </c:pt>
                <c:pt idx="5">
                  <c:v>5772</c:v>
                </c:pt>
                <c:pt idx="6">
                  <c:v>1164</c:v>
                </c:pt>
                <c:pt idx="7">
                  <c:v>480</c:v>
                </c:pt>
                <c:pt idx="8">
                  <c:v>39805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1298-4B23-B7A5-874E0BF684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4701119"/>
        <c:axId val="1944686559"/>
      </c:barChart>
      <c:catAx>
        <c:axId val="19447011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4686559"/>
        <c:crosses val="autoZero"/>
        <c:auto val="1"/>
        <c:lblAlgn val="ctr"/>
        <c:lblOffset val="100"/>
        <c:noMultiLvlLbl val="0"/>
      </c:catAx>
      <c:valAx>
        <c:axId val="1944686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47011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Bright Coffee Shop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Prepared for the CEO</a:t>
            </a:r>
          </a:p>
          <a:p>
            <a:r>
              <a:rPr dirty="0"/>
              <a:t>Prepared by: </a:t>
            </a:r>
            <a:r>
              <a:rPr dirty="0" err="1"/>
              <a:t>Lerato</a:t>
            </a:r>
            <a:r>
              <a:rPr dirty="0"/>
              <a:t> Mashego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383721"/>
            <a:ext cx="2514600" cy="22206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1. About the Coffee Shop &amp; Product Category</a:t>
            </a:r>
          </a:p>
          <a:p>
            <a:pPr marL="0" indent="0">
              <a:buNone/>
            </a:pPr>
            <a:r>
              <a:rPr dirty="0"/>
              <a:t>2. Revenue by Month</a:t>
            </a:r>
          </a:p>
          <a:p>
            <a:pPr marL="0" indent="0">
              <a:buNone/>
            </a:pPr>
            <a:r>
              <a:rPr dirty="0"/>
              <a:t>3. Revenue by Week</a:t>
            </a:r>
          </a:p>
          <a:p>
            <a:pPr marL="0" indent="0">
              <a:buNone/>
            </a:pPr>
            <a:r>
              <a:rPr dirty="0"/>
              <a:t>4. Revenue by Store Location</a:t>
            </a:r>
          </a:p>
          <a:p>
            <a:pPr marL="0" indent="0">
              <a:buNone/>
            </a:pPr>
            <a:r>
              <a:rPr dirty="0"/>
              <a:t>5. Number of Sales by Day of the Week</a:t>
            </a:r>
          </a:p>
          <a:p>
            <a:pPr marL="0" indent="0">
              <a:buNone/>
            </a:pPr>
            <a:r>
              <a:rPr dirty="0"/>
              <a:t>6. Revenue by Time Bucket (Time of Day)</a:t>
            </a:r>
          </a:p>
          <a:p>
            <a:pPr marL="0" indent="0">
              <a:buNone/>
            </a:pPr>
            <a:r>
              <a:rPr dirty="0"/>
              <a:t>7. Which Category Sells Most</a:t>
            </a:r>
          </a:p>
          <a:p>
            <a:pPr marL="0" indent="0">
              <a:buNone/>
            </a:pPr>
            <a:r>
              <a:rPr dirty="0"/>
              <a:t>8. Summary &amp; Recommendations</a:t>
            </a:r>
          </a:p>
          <a:p>
            <a:pPr marL="0" indent="0">
              <a:buNone/>
            </a:pPr>
            <a:r>
              <a:rPr dirty="0"/>
              <a:t>9.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u="sng" dirty="0"/>
              <a:t>About the Coffee Shop &amp; Product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Bright Coffee Shop is a modern coffee chain serving premium beverages and snacks.</a:t>
            </a:r>
          </a:p>
          <a:p>
            <a:r>
              <a:rPr dirty="0"/>
              <a:t>The dataset covers daily transactions across multiple store locations, including details such as:</a:t>
            </a:r>
          </a:p>
          <a:p>
            <a:pPr marL="0" indent="0">
              <a:buNone/>
            </a:pPr>
            <a:r>
              <a:rPr dirty="0"/>
              <a:t>• Date &amp; Time of Transaction</a:t>
            </a:r>
          </a:p>
          <a:p>
            <a:pPr marL="0" indent="0">
              <a:buNone/>
            </a:pPr>
            <a:r>
              <a:rPr dirty="0"/>
              <a:t>• Product Category and Quantity</a:t>
            </a:r>
          </a:p>
          <a:p>
            <a:pPr marL="0" indent="0">
              <a:buNone/>
            </a:pPr>
            <a:r>
              <a:rPr dirty="0"/>
              <a:t>• Store Location</a:t>
            </a:r>
          </a:p>
          <a:p>
            <a:pPr marL="0" indent="0">
              <a:buNone/>
            </a:pPr>
            <a:r>
              <a:rPr dirty="0"/>
              <a:t>• Revenue per Sale</a:t>
            </a:r>
          </a:p>
          <a:p>
            <a:endParaRPr dirty="0"/>
          </a:p>
          <a:p>
            <a:r>
              <a:rPr dirty="0"/>
              <a:t>Objective:</a:t>
            </a:r>
          </a:p>
          <a:p>
            <a:r>
              <a:rPr dirty="0"/>
              <a:t>Provide insights into sales performance and product trends to guide the CEO’s business strategy.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Revenue by Month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898570"/>
          </a:xfrm>
        </p:spPr>
        <p:txBody>
          <a:bodyPr/>
          <a:lstStyle/>
          <a:p>
            <a:r>
              <a:rPr dirty="0"/>
              <a:t>Monthly revenue trends highlighting peak and slow sales periods</a:t>
            </a:r>
            <a:r>
              <a:rPr dirty="0" smtClean="0"/>
              <a:t>.</a:t>
            </a:r>
            <a:endParaRPr lang="en-ZA" dirty="0" smtClean="0"/>
          </a:p>
          <a:p>
            <a:r>
              <a:rPr lang="en-US" sz="2400" dirty="0"/>
              <a:t>Revenue increased steadily from January to June, with the highest in May and June.</a:t>
            </a:r>
            <a:endParaRPr lang="en-ZA" sz="2400" dirty="0" smtClean="0"/>
          </a:p>
          <a:p>
            <a:pPr marL="0" indent="0">
              <a:buNone/>
            </a:pPr>
            <a:endParaRPr sz="2400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6481395"/>
              </p:ext>
            </p:extLst>
          </p:nvPr>
        </p:nvGraphicFramePr>
        <p:xfrm>
          <a:off x="2205991" y="4024993"/>
          <a:ext cx="5027566" cy="24737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AutoShape 2" descr="1pc 5d diy diamond painting kit   coffee themed round acrylic diamonds   acrylic art craft for beginners home wall decor gif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Revenue by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Weekly revenue patterns showing consistent sales </a:t>
            </a:r>
            <a:r>
              <a:rPr dirty="0" smtClean="0"/>
              <a:t>trends</a:t>
            </a:r>
            <a:r>
              <a:rPr lang="en-ZA" dirty="0" smtClean="0"/>
              <a:t> across all stores</a:t>
            </a:r>
            <a:r>
              <a:rPr dirty="0" smtClean="0"/>
              <a:t>.</a:t>
            </a:r>
            <a:endParaRPr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6710901"/>
              </p:ext>
            </p:extLst>
          </p:nvPr>
        </p:nvGraphicFramePr>
        <p:xfrm>
          <a:off x="1918608" y="2833007"/>
          <a:ext cx="4620986" cy="2506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Revenue by Store 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47557"/>
          </a:xfrm>
        </p:spPr>
        <p:txBody>
          <a:bodyPr/>
          <a:lstStyle/>
          <a:p>
            <a:r>
              <a:rPr dirty="0"/>
              <a:t>Revenue contribution per store location</a:t>
            </a:r>
            <a:r>
              <a:rPr dirty="0" smtClean="0"/>
              <a:t>.</a:t>
            </a:r>
            <a:endParaRPr lang="en-ZA" dirty="0" smtClean="0"/>
          </a:p>
          <a:p>
            <a:r>
              <a:rPr lang="en-US" sz="2400" dirty="0"/>
              <a:t>Hell’s Kitchen recorded the highest revenue contribution, indicating stronger customer traffic and sales performance compared to the other stores.</a:t>
            </a:r>
            <a:endParaRPr sz="2400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4354976"/>
              </p:ext>
            </p:extLst>
          </p:nvPr>
        </p:nvGraphicFramePr>
        <p:xfrm>
          <a:off x="2016578" y="356552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u="sng" dirty="0"/>
              <a:t>Number of Sales by Day of the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5093"/>
          </a:xfrm>
        </p:spPr>
        <p:txBody>
          <a:bodyPr/>
          <a:lstStyle/>
          <a:p>
            <a:r>
              <a:rPr dirty="0"/>
              <a:t>Sales frequency across different days of the week</a:t>
            </a:r>
            <a:r>
              <a:rPr dirty="0" smtClean="0"/>
              <a:t>.</a:t>
            </a:r>
            <a:endParaRPr lang="en-ZA" dirty="0" smtClean="0"/>
          </a:p>
          <a:p>
            <a:r>
              <a:rPr lang="en-US" sz="2000" dirty="0"/>
              <a:t>Sunday, Monday, and Friday recorded the highest sales frequency, highlighting strong customer activity at both the start and end of the week.</a:t>
            </a:r>
            <a:endParaRPr sz="2000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2357507"/>
              </p:ext>
            </p:extLst>
          </p:nvPr>
        </p:nvGraphicFramePr>
        <p:xfrm>
          <a:off x="1863090" y="3535136"/>
          <a:ext cx="54178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Revenue by Time Bucket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98571"/>
          </a:xfrm>
        </p:spPr>
        <p:txBody>
          <a:bodyPr/>
          <a:lstStyle/>
          <a:p>
            <a:r>
              <a:rPr dirty="0"/>
              <a:t>Revenue performance based on time of day</a:t>
            </a:r>
            <a:r>
              <a:rPr dirty="0" smtClean="0"/>
              <a:t>.</a:t>
            </a:r>
            <a:endParaRPr lang="en-ZA" dirty="0" smtClean="0"/>
          </a:p>
          <a:p>
            <a:r>
              <a:rPr lang="en-US" sz="2400" dirty="0"/>
              <a:t>Most sales occur during the morning hours, indicating peak customer activity and strong demand for coffee and breakfast items.</a:t>
            </a:r>
            <a:endParaRPr sz="2400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4801809"/>
              </p:ext>
            </p:extLst>
          </p:nvPr>
        </p:nvGraphicFramePr>
        <p:xfrm>
          <a:off x="2091690" y="3673929"/>
          <a:ext cx="51892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Which Category Sells Most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37125"/>
          </a:xfrm>
        </p:spPr>
        <p:txBody>
          <a:bodyPr/>
          <a:lstStyle/>
          <a:p>
            <a:r>
              <a:rPr dirty="0"/>
              <a:t>Top product categories contributing to overall revenue</a:t>
            </a:r>
            <a:r>
              <a:rPr dirty="0" smtClean="0"/>
              <a:t>.</a:t>
            </a:r>
            <a:endParaRPr lang="en-ZA" dirty="0" smtClean="0"/>
          </a:p>
          <a:p>
            <a:r>
              <a:rPr lang="en-US" sz="1800" dirty="0"/>
              <a:t>Coffee, tea, and bakery products drive the majority of sales, while packaged chocolate, branded goods, and loose tea </a:t>
            </a:r>
            <a:r>
              <a:rPr lang="en-US" sz="1800" dirty="0" smtClean="0"/>
              <a:t>underperform suggesting </a:t>
            </a:r>
            <a:r>
              <a:rPr lang="en-US" sz="1800" dirty="0"/>
              <a:t>opportunities for targeted promotions or product repositioning.</a:t>
            </a:r>
            <a:endParaRPr sz="1800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675937"/>
              </p:ext>
            </p:extLst>
          </p:nvPr>
        </p:nvGraphicFramePr>
        <p:xfrm>
          <a:off x="2523309" y="3794125"/>
          <a:ext cx="44729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Summary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The </a:t>
            </a:r>
            <a:r>
              <a:rPr lang="en-US" sz="2000" dirty="0"/>
              <a:t>analysis reveals that </a:t>
            </a:r>
            <a:r>
              <a:rPr lang="en-US" sz="2000" b="1" dirty="0"/>
              <a:t>morning hours</a:t>
            </a:r>
            <a:r>
              <a:rPr lang="en-US" sz="2000" dirty="0"/>
              <a:t> and </a:t>
            </a:r>
            <a:r>
              <a:rPr lang="en-US" sz="2000" b="1" dirty="0"/>
              <a:t>weekend/early-week days</a:t>
            </a:r>
            <a:r>
              <a:rPr lang="en-US" sz="2000" dirty="0"/>
              <a:t> generate the most sales</a:t>
            </a:r>
            <a:r>
              <a:rPr lang="en-US" sz="2000" dirty="0" smtClean="0"/>
              <a:t>.</a:t>
            </a:r>
          </a:p>
          <a:p>
            <a:r>
              <a:rPr lang="en-US" sz="2000" b="1" dirty="0"/>
              <a:t>Coffee, tea, and bakery products</a:t>
            </a:r>
            <a:r>
              <a:rPr lang="en-US" sz="2000" dirty="0"/>
              <a:t> remain the primary revenue drivers, while the </a:t>
            </a:r>
            <a:r>
              <a:rPr lang="en-US" sz="2000" b="1" dirty="0"/>
              <a:t>Hell’s Kitchen store</a:t>
            </a:r>
            <a:r>
              <a:rPr lang="en-US" sz="2000" dirty="0"/>
              <a:t> leads in total sales performance.</a:t>
            </a:r>
            <a:endParaRPr lang="en-ZA" sz="2000" dirty="0" smtClean="0"/>
          </a:p>
          <a:p>
            <a:pPr marL="0" indent="0">
              <a:buNone/>
            </a:pPr>
            <a:r>
              <a:rPr sz="2000" dirty="0" smtClean="0"/>
              <a:t>• Increase stock and staff during peak hours.</a:t>
            </a:r>
          </a:p>
          <a:p>
            <a:pPr marL="0" indent="0">
              <a:buNone/>
            </a:pPr>
            <a:r>
              <a:rPr sz="2000" dirty="0" smtClean="0"/>
              <a:t>• Focus marketing on high-performing stores.</a:t>
            </a:r>
          </a:p>
          <a:p>
            <a:pPr marL="0" indent="0">
              <a:buNone/>
            </a:pPr>
            <a:r>
              <a:rPr sz="2000" dirty="0" smtClean="0"/>
              <a:t>• Bundle promotions for underperforming products.</a:t>
            </a:r>
          </a:p>
          <a:p>
            <a:pPr marL="0" indent="0">
              <a:buNone/>
            </a:pPr>
            <a:r>
              <a:rPr sz="2000" dirty="0" smtClean="0"/>
              <a:t>• Implement automated sales dashboards.</a:t>
            </a:r>
            <a:endParaRPr lang="en-ZA" sz="2000" dirty="0" smtClean="0"/>
          </a:p>
          <a:p>
            <a:r>
              <a:rPr lang="en-US" sz="2000" dirty="0"/>
              <a:t>Study </a:t>
            </a:r>
            <a:r>
              <a:rPr lang="en-US" sz="2000" b="1" dirty="0"/>
              <a:t>Hell’s Kitchen’s operational model</a:t>
            </a:r>
            <a:r>
              <a:rPr lang="en-US" sz="2000" dirty="0"/>
              <a:t> and replicate its strategies in other stores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>Implement </a:t>
            </a:r>
            <a:r>
              <a:rPr lang="en-US" sz="2000" b="1" dirty="0"/>
              <a:t>automated daily sales dashboards</a:t>
            </a:r>
            <a:r>
              <a:rPr lang="en-US" sz="2000" dirty="0"/>
              <a:t> to track store and product performance in real </a:t>
            </a:r>
            <a:r>
              <a:rPr lang="en-US" sz="2000" dirty="0" smtClean="0"/>
              <a:t>time.</a:t>
            </a:r>
          </a:p>
          <a:p>
            <a:endParaRPr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Mornings and early-week/weekend days drive the most sales, led by coffee, tea, and bakery items. </a:t>
            </a:r>
            <a:endParaRPr lang="en-US" sz="2600" dirty="0" smtClean="0"/>
          </a:p>
          <a:p>
            <a:r>
              <a:rPr lang="en-US" sz="2600" dirty="0" smtClean="0"/>
              <a:t>Hell’s </a:t>
            </a:r>
            <a:r>
              <a:rPr lang="en-US" sz="2600" dirty="0"/>
              <a:t>Kitchen sets the performance benchmark. </a:t>
            </a:r>
            <a:endParaRPr lang="en-US" sz="2600" dirty="0" smtClean="0"/>
          </a:p>
          <a:p>
            <a:r>
              <a:rPr lang="en-US" sz="2600" dirty="0" smtClean="0"/>
              <a:t>Focusing </a:t>
            </a:r>
            <a:r>
              <a:rPr lang="en-US" sz="2600" dirty="0"/>
              <a:t>on peak hours, promoting low-performing products, replicating best practices, preparing for seasonal demand, and using real-time dashboards will boost revenue and efficiency.</a:t>
            </a:r>
          </a:p>
          <a:p>
            <a:endParaRPr dirty="0"/>
          </a:p>
        </p:txBody>
      </p:sp>
      <p:sp>
        <p:nvSpPr>
          <p:cNvPr id="5" name="AutoShape 2" descr="1pc 5d diy diamond painting kit   coffee themed round acrylic diamonds   acrylic art craft for beginners home wall decor gif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557" y="4165260"/>
            <a:ext cx="3224892" cy="22600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524</Words>
  <Application>Microsoft Office PowerPoint</Application>
  <PresentationFormat>On-screen Show (4:3)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Bright Coffee Shop Sales Analysis</vt:lpstr>
      <vt:lpstr>Table of Contents</vt:lpstr>
      <vt:lpstr>About the Coffee Shop &amp; Product Category</vt:lpstr>
      <vt:lpstr>Revenue by Month</vt:lpstr>
      <vt:lpstr>Revenue by Week</vt:lpstr>
      <vt:lpstr>Revenue by Store Location</vt:lpstr>
      <vt:lpstr>Number of Sales by Day of the Week</vt:lpstr>
      <vt:lpstr>Revenue by Time Bucket</vt:lpstr>
      <vt:lpstr>Which Category Sells Most</vt:lpstr>
      <vt:lpstr>Summary &amp;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Coffee Shop Sales Analysis</dc:title>
  <dc:subject/>
  <dc:creator>NL Mashego</dc:creator>
  <cp:keywords/>
  <dc:description>generated using python-pptx</dc:description>
  <cp:lastModifiedBy>NL Mashego</cp:lastModifiedBy>
  <cp:revision>6</cp:revision>
  <dcterms:created xsi:type="dcterms:W3CDTF">2013-01-27T09:14:16Z</dcterms:created>
  <dcterms:modified xsi:type="dcterms:W3CDTF">2025-11-11T10:07:50Z</dcterms:modified>
  <cp:category/>
</cp:coreProperties>
</file>